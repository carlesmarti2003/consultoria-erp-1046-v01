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b0559e27ca449c" /><Relationship Type="http://schemas.openxmlformats.org/officeDocument/2006/relationships/extended-properties" Target="/docProps/app.xml" Id="Rc500e83592d74110" /><Relationship Type="http://schemas.openxmlformats.org/officeDocument/2006/relationships/officeDocument" Target="/ppt/presentation.xml" Id="Rc1f8d5b566ea4c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0734314cac4cd6"/>
  </p:sldMasterIdLst>
  <p:notesMasterIdLst>
    <p:notesMasterId xmlns:r="http://schemas.openxmlformats.org/officeDocument/2006/relationships" r:id="R1d8318d98cde43ec"/>
  </p:notesMasterIdLst>
  <p:sldIdLst>
    <p:sldId xmlns:r="http://schemas.openxmlformats.org/officeDocument/2006/relationships" id="256" r:id="R5274399f0b774f9a"/>
    <p:sldId xmlns:r="http://schemas.openxmlformats.org/officeDocument/2006/relationships" id="257" r:id="Rda76d85293274c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ee73c836c0452a" /><Relationship Type="http://schemas.openxmlformats.org/officeDocument/2006/relationships/slideMaster" Target="/ppt/slideMasters/slideMaster1.xml" Id="R2d0734314cac4cd6" /><Relationship Type="http://schemas.openxmlformats.org/officeDocument/2006/relationships/notesMaster" Target="/ppt/notesMasters/notesMaster1.xml" Id="R1d8318d98cde43ec" /><Relationship Type="http://schemas.openxmlformats.org/officeDocument/2006/relationships/presProps" Target="/ppt/presProps.xml" Id="R0118ba2a41144adb" /><Relationship Type="http://schemas.openxmlformats.org/officeDocument/2006/relationships/tableStyles" Target="/ppt/tableStyles.xml" Id="R187cb139b64648c9" /><Relationship Type="http://schemas.openxmlformats.org/officeDocument/2006/relationships/slide" Target="/ppt/slides/slide1.xml" Id="R5274399f0b774f9a" /><Relationship Type="http://schemas.openxmlformats.org/officeDocument/2006/relationships/slide" Target="/ppt/slides/slide2.xml" Id="Rda76d85293274c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e80ad7e82649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4e9ea2ac13412c" /><Relationship Type="http://schemas.openxmlformats.org/officeDocument/2006/relationships/notesMaster" Target="/ppt/notesMasters/notesMaster1.xml" Id="Rb77c4b0b86f946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b4f7745f94418b" /><Relationship Type="http://schemas.openxmlformats.org/officeDocument/2006/relationships/notesMaster" Target="/ppt/notesMasters/notesMaster1.xml" Id="R7b591415ef2c42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3c6d28a23944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ad95090d424ff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2a924d2ac241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1ada4db02644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bfbc30678448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bf6e9b6c8b47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9B342B-5304-4850-AB26-3F08B49C1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3BF88A-0AE4-4A05-97EC-C60B3691A8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05D6B0-0505-4CEC-AEC4-23450BA6AC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7BFABE-21CA-4F4A-88F3-F7ACD78B95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B098F56-A2AF-4E03-A3A9-185E56EAC5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C3E9C7-A1D0-4D3F-889F-FF65404413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609401-0C2F-4486-8AC8-70F231BC06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6B0113-5E6A-4C86-937F-2406FBB0E79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E3B8A4-2401-417A-87B5-2DF7EE9206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C748EC-15DD-45B8-BCFF-5F5BB1EEBD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40222e0a3a47c8" /><Relationship Type="http://schemas.openxmlformats.org/officeDocument/2006/relationships/slideLayout" Target="/ppt/slideLayouts/slideLayout1.xml" Id="Ra1332a56ec17493f" /><Relationship Type="http://schemas.openxmlformats.org/officeDocument/2006/relationships/slideLayout" Target="/ppt/slideLayouts/slideLayout2.xml" Id="R6814391c42f54f4d" /><Relationship Type="http://schemas.openxmlformats.org/officeDocument/2006/relationships/slideLayout" Target="/ppt/slideLayouts/slideLayout3.xml" Id="R76fa6a178b8b48e1" /><Relationship Type="http://schemas.openxmlformats.org/officeDocument/2006/relationships/slideLayout" Target="/ppt/slideLayouts/slideLayout4.xml" Id="R609162a6111b4bac" /><Relationship Type="http://schemas.openxmlformats.org/officeDocument/2006/relationships/slideLayout" Target="/ppt/slideLayouts/slideLayout5.xml" Id="R5e0d06d24a024c89" /><Relationship Type="http://schemas.openxmlformats.org/officeDocument/2006/relationships/slideLayout" Target="/ppt/slideLayouts/slideLayout6.xml" Id="R2da0b64a62f442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332a56ec17493f"/>
    <p:sldLayoutId xmlns:r="http://schemas.openxmlformats.org/officeDocument/2006/relationships" id="2147483650" r:id="R6814391c42f54f4d"/>
    <p:sldLayoutId xmlns:r="http://schemas.openxmlformats.org/officeDocument/2006/relationships" id="2147483651" r:id="R76fa6a178b8b48e1"/>
    <p:sldLayoutId xmlns:r="http://schemas.openxmlformats.org/officeDocument/2006/relationships" id="2147483652" r:id="R609162a6111b4bac"/>
    <p:sldLayoutId xmlns:r="http://schemas.openxmlformats.org/officeDocument/2006/relationships" id="2147483653" r:id="R5e0d06d24a024c89"/>
    <p:sldLayoutId xmlns:r="http://schemas.openxmlformats.org/officeDocument/2006/relationships" id="2147483654" r:id="R2da0b64a62f442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27dcbae6c48b7" /><Relationship Type="http://schemas.openxmlformats.org/officeDocument/2006/relationships/notesSlide" Target="/ppt/notesSlides/notesSlide1.xml" Id="R7150b1c7775e4b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ebdf3bbbba4420" /><Relationship Type="http://schemas.openxmlformats.org/officeDocument/2006/relationships/notesSlide" Target="/ppt/notesSlides/notesSlide2.xml" Id="Rb512dcee294a44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9217D-4715-4DFB-A10C-02B27163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A74F32"/>
                </a:solidFill>
              </a:defRPr>
            </a:defPPr>
            <a:lvl1pPr>
              <a:defRPr sz="1725" b="1">
                <a:solidFill>
                  <a:srgbClr val="A74F32"/>
                </a:solidFill>
              </a:defRPr>
            </a:lvl1pPr>
            <a:lvl2pPr>
              <a:defRPr sz="1725" b="1">
                <a:solidFill>
                  <a:srgbClr val="A74F32"/>
                </a:solidFill>
              </a:defRPr>
            </a:lvl2pPr>
            <a:lvl3pPr>
              <a:defRPr sz="1725" b="1">
                <a:solidFill>
                  <a:srgbClr val="A74F32"/>
                </a:solidFill>
              </a:defRPr>
            </a:lvl3pPr>
            <a:lvl4pPr>
              <a:defRPr sz="1725" b="1">
                <a:solidFill>
                  <a:srgbClr val="A74F32"/>
                </a:solidFill>
              </a:defRPr>
            </a:lvl4pPr>
            <a:lvl5pPr>
              <a:defRPr sz="1725" b="1">
                <a:solidFill>
                  <a:srgbClr val="A74F32"/>
                </a:solidFill>
              </a:defRPr>
            </a:lvl5pPr>
            <a:lvl6pPr>
              <a:defRPr sz="1725" b="1">
                <a:solidFill>
                  <a:srgbClr val="A74F32"/>
                </a:solidFill>
              </a:defRPr>
            </a:lvl6pPr>
            <a:lvl7pPr>
              <a:defRPr sz="1725" b="1">
                <a:solidFill>
                  <a:srgbClr val="A74F32"/>
                </a:solidFill>
              </a:defRPr>
            </a:lvl7pPr>
            <a:lvl8pPr>
              <a:defRPr sz="1725" b="1">
                <a:solidFill>
                  <a:srgbClr val="A74F32"/>
                </a:solidFill>
              </a:defRPr>
            </a:lvl8pPr>
            <a:lvl9pPr>
              <a:defRPr sz="172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74F32"/>
                </a:solidFill>
              </a:defRPr>
            </a:pPr>
            <a:r>
              <a:rPr sz="1725" b="1">
                <a:solidFill>
                  <a:srgbClr val="A74F32"/>
                </a:solidFill>
              </a:rPr>
              <a:t>NEXE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1EDE5-F968-4155-848F-27BA49F8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65E57"/>
                </a:solidFill>
              </a:defRPr>
            </a:defPPr>
            <a:lvl1pPr>
              <a:defRPr sz="1125" b="1">
                <a:solidFill>
                  <a:srgbClr val="665E57"/>
                </a:solidFill>
              </a:defRPr>
            </a:lvl1pPr>
            <a:lvl2pPr>
              <a:defRPr sz="1125" b="1">
                <a:solidFill>
                  <a:srgbClr val="665E57"/>
                </a:solidFill>
              </a:defRPr>
            </a:lvl2pPr>
            <a:lvl3pPr>
              <a:defRPr sz="1125" b="1">
                <a:solidFill>
                  <a:srgbClr val="665E57"/>
                </a:solidFill>
              </a:defRPr>
            </a:lvl3pPr>
            <a:lvl4pPr>
              <a:defRPr sz="1125" b="1">
                <a:solidFill>
                  <a:srgbClr val="665E57"/>
                </a:solidFill>
              </a:defRPr>
            </a:lvl4pPr>
            <a:lvl5pPr>
              <a:defRPr sz="1125" b="1">
                <a:solidFill>
                  <a:srgbClr val="665E57"/>
                </a:solidFill>
              </a:defRPr>
            </a:lvl5pPr>
            <a:lvl6pPr>
              <a:defRPr sz="1125" b="1">
                <a:solidFill>
                  <a:srgbClr val="665E57"/>
                </a:solidFill>
              </a:defRPr>
            </a:lvl6pPr>
            <a:lvl7pPr>
              <a:defRPr sz="1125" b="1">
                <a:solidFill>
                  <a:srgbClr val="665E57"/>
                </a:solidFill>
              </a:defRPr>
            </a:lvl7pPr>
            <a:lvl8pPr>
              <a:defRPr sz="1125" b="1">
                <a:solidFill>
                  <a:srgbClr val="665E57"/>
                </a:solidFill>
              </a:defRPr>
            </a:lvl8pPr>
            <a:lvl9pPr>
              <a:defRPr sz="1125" b="1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65E57"/>
                </a:solidFill>
              </a:defRPr>
            </a:pPr>
            <a:r>
              <a:rPr sz="1125" b="1">
                <a:solidFill>
                  <a:srgbClr val="665E57"/>
                </a:solidFill>
              </a:rPr>
              <a:t>CERÀMICA RIU SEC · APROVISIONAMENT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5C6143-D494-42B1-B325-E2FAB671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323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65E57"/>
                </a:solidFill>
              </a:defRPr>
            </a:defPPr>
            <a:lvl1pPr>
              <a:defRPr sz="1125" b="0">
                <a:solidFill>
                  <a:srgbClr val="665E57"/>
                </a:solidFill>
              </a:defRPr>
            </a:lvl1pPr>
            <a:lvl2pPr>
              <a:defRPr sz="1125" b="0">
                <a:solidFill>
                  <a:srgbClr val="665E57"/>
                </a:solidFill>
              </a:defRPr>
            </a:lvl2pPr>
            <a:lvl3pPr>
              <a:defRPr sz="1125" b="0">
                <a:solidFill>
                  <a:srgbClr val="665E57"/>
                </a:solidFill>
              </a:defRPr>
            </a:lvl3pPr>
            <a:lvl4pPr>
              <a:defRPr sz="1125" b="0">
                <a:solidFill>
                  <a:srgbClr val="665E57"/>
                </a:solidFill>
              </a:defRPr>
            </a:lvl4pPr>
            <a:lvl5pPr>
              <a:defRPr sz="1125" b="0">
                <a:solidFill>
                  <a:srgbClr val="665E57"/>
                </a:solidFill>
              </a:defRPr>
            </a:lvl5pPr>
            <a:lvl6pPr>
              <a:defRPr sz="1125" b="0">
                <a:solidFill>
                  <a:srgbClr val="665E57"/>
                </a:solidFill>
              </a:defRPr>
            </a:lvl6pPr>
            <a:lvl7pPr>
              <a:defRPr sz="1125" b="0">
                <a:solidFill>
                  <a:srgbClr val="665E57"/>
                </a:solidFill>
              </a:defRPr>
            </a:lvl7pPr>
            <a:lvl8pPr>
              <a:defRPr sz="1125" b="0">
                <a:solidFill>
                  <a:srgbClr val="665E57"/>
                </a:solidFill>
              </a:defRPr>
            </a:lvl8pPr>
            <a:lvl9pPr>
              <a:defRPr sz="1125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5E57"/>
                </a:solidFill>
              </a:defRPr>
            </a:pPr>
            <a:r>
              <a:rPr sz="1125" b="0">
                <a:solidFill>
                  <a:srgbClr val="665E57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35CDD-A3D1-4260-8162-5E78398C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4658F-C4B9-4758-AB4B-3C6E17A2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25211E"/>
                </a:solidFill>
              </a:defRPr>
            </a:defPPr>
            <a:lvl1pPr>
              <a:defRPr sz="3600" b="1">
                <a:solidFill>
                  <a:srgbClr val="25211E"/>
                </a:solidFill>
              </a:defRPr>
            </a:lvl1pPr>
            <a:lvl2pPr>
              <a:defRPr sz="3600" b="1">
                <a:solidFill>
                  <a:srgbClr val="25211E"/>
                </a:solidFill>
              </a:defRPr>
            </a:lvl2pPr>
            <a:lvl3pPr>
              <a:defRPr sz="3600" b="1">
                <a:solidFill>
                  <a:srgbClr val="25211E"/>
                </a:solidFill>
              </a:defRPr>
            </a:lvl3pPr>
            <a:lvl4pPr>
              <a:defRPr sz="3600" b="1">
                <a:solidFill>
                  <a:srgbClr val="25211E"/>
                </a:solidFill>
              </a:defRPr>
            </a:lvl4pPr>
            <a:lvl5pPr>
              <a:defRPr sz="3600" b="1">
                <a:solidFill>
                  <a:srgbClr val="25211E"/>
                </a:solidFill>
              </a:defRPr>
            </a:lvl5pPr>
            <a:lvl6pPr>
              <a:defRPr sz="3600" b="1">
                <a:solidFill>
                  <a:srgbClr val="25211E"/>
                </a:solidFill>
              </a:defRPr>
            </a:lvl6pPr>
            <a:lvl7pPr>
              <a:defRPr sz="3600" b="1">
                <a:solidFill>
                  <a:srgbClr val="25211E"/>
                </a:solidFill>
              </a:defRPr>
            </a:lvl7pPr>
            <a:lvl8pPr>
              <a:defRPr sz="3600" b="1">
                <a:solidFill>
                  <a:srgbClr val="25211E"/>
                </a:solidFill>
              </a:defRPr>
            </a:lvl8pPr>
            <a:lvl9pPr>
              <a:defRPr sz="36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5211E"/>
                </a:solidFill>
              </a:defRPr>
            </a:pPr>
            <a:r>
              <a:rPr sz="3600" b="1">
                <a:solidFill>
                  <a:srgbClr val="25211E"/>
                </a:solidFill>
              </a:rPr>
              <a:t>El procés actual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E2D06-01BD-4834-BF4D-B0C60D1D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6334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665E57"/>
                </a:solidFill>
              </a:defRPr>
            </a:defPPr>
            <a:lvl1pPr>
              <a:defRPr sz="1875" b="0">
                <a:solidFill>
                  <a:srgbClr val="665E57"/>
                </a:solidFill>
              </a:defRPr>
            </a:lvl1pPr>
            <a:lvl2pPr>
              <a:defRPr sz="1875" b="0">
                <a:solidFill>
                  <a:srgbClr val="665E57"/>
                </a:solidFill>
              </a:defRPr>
            </a:lvl2pPr>
            <a:lvl3pPr>
              <a:defRPr sz="1875" b="0">
                <a:solidFill>
                  <a:srgbClr val="665E57"/>
                </a:solidFill>
              </a:defRPr>
            </a:lvl3pPr>
            <a:lvl4pPr>
              <a:defRPr sz="1875" b="0">
                <a:solidFill>
                  <a:srgbClr val="665E57"/>
                </a:solidFill>
              </a:defRPr>
            </a:lvl4pPr>
            <a:lvl5pPr>
              <a:defRPr sz="1875" b="0">
                <a:solidFill>
                  <a:srgbClr val="665E57"/>
                </a:solidFill>
              </a:defRPr>
            </a:lvl5pPr>
            <a:lvl6pPr>
              <a:defRPr sz="1875" b="0">
                <a:solidFill>
                  <a:srgbClr val="665E57"/>
                </a:solidFill>
              </a:defRPr>
            </a:lvl6pPr>
            <a:lvl7pPr>
              <a:defRPr sz="1875" b="0">
                <a:solidFill>
                  <a:srgbClr val="665E57"/>
                </a:solidFill>
              </a:defRPr>
            </a:lvl7pPr>
            <a:lvl8pPr>
              <a:defRPr sz="1875" b="0">
                <a:solidFill>
                  <a:srgbClr val="665E57"/>
                </a:solidFill>
              </a:defRPr>
            </a:lvl8pPr>
            <a:lvl9pPr>
              <a:defRPr sz="1875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65E57"/>
                </a:solidFill>
              </a:defRPr>
            </a:pPr>
            <a:r>
              <a:rPr sz="1875" b="0">
                <a:solidFill>
                  <a:srgbClr val="665E57"/>
                </a:solidFill>
              </a:rPr>
              <a:t>La informació passa per correus i fulls separats. Cada retard arriba a producció quan ja costa reaccionar.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829DC-9B32-4925-B51D-52DB99DA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D22BE-5AE4-4F37-A583-7F14905A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5211E"/>
                </a:solidFill>
              </a:defRPr>
            </a:defPPr>
            <a:lvl1pPr>
              <a:defRPr sz="1650" b="1">
                <a:solidFill>
                  <a:srgbClr val="25211E"/>
                </a:solidFill>
              </a:defRPr>
            </a:lvl1pPr>
            <a:lvl2pPr>
              <a:defRPr sz="1650" b="1">
                <a:solidFill>
                  <a:srgbClr val="25211E"/>
                </a:solidFill>
              </a:defRPr>
            </a:lvl2pPr>
            <a:lvl3pPr>
              <a:defRPr sz="1650" b="1">
                <a:solidFill>
                  <a:srgbClr val="25211E"/>
                </a:solidFill>
              </a:defRPr>
            </a:lvl3pPr>
            <a:lvl4pPr>
              <a:defRPr sz="1650" b="1">
                <a:solidFill>
                  <a:srgbClr val="25211E"/>
                </a:solidFill>
              </a:defRPr>
            </a:lvl4pPr>
            <a:lvl5pPr>
              <a:defRPr sz="1650" b="1">
                <a:solidFill>
                  <a:srgbClr val="25211E"/>
                </a:solidFill>
              </a:defRPr>
            </a:lvl5pPr>
            <a:lvl6pPr>
              <a:defRPr sz="1650" b="1">
                <a:solidFill>
                  <a:srgbClr val="25211E"/>
                </a:solidFill>
              </a:defRPr>
            </a:lvl6pPr>
            <a:lvl7pPr>
              <a:defRPr sz="1650" b="1">
                <a:solidFill>
                  <a:srgbClr val="25211E"/>
                </a:solidFill>
              </a:defRPr>
            </a:lvl7pPr>
            <a:lvl8pPr>
              <a:defRPr sz="1650" b="1">
                <a:solidFill>
                  <a:srgbClr val="25211E"/>
                </a:solidFill>
              </a:defRPr>
            </a:lvl8pPr>
            <a:lvl9pPr>
              <a:defRPr sz="16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211E"/>
                </a:solidFill>
              </a:defRPr>
            </a:pPr>
            <a:r>
              <a:rPr sz="1650" b="1">
                <a:solidFill>
                  <a:srgbClr val="25211E"/>
                </a:solidFill>
              </a:rPr>
              <a:t>Pla i estoc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071DB-224A-41C2-A805-7AD528E0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146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Els canvis del pla i les reserves no sempre coincideixen amb les dades que usa compres.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3BBAB-E317-4B06-B8FE-ACA17B87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FD354-08D1-4DBF-85E5-1C27574E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147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5211E"/>
                </a:solidFill>
              </a:defRPr>
            </a:defPPr>
            <a:lvl1pPr>
              <a:defRPr sz="1650" b="1">
                <a:solidFill>
                  <a:srgbClr val="25211E"/>
                </a:solidFill>
              </a:defRPr>
            </a:lvl1pPr>
            <a:lvl2pPr>
              <a:defRPr sz="1650" b="1">
                <a:solidFill>
                  <a:srgbClr val="25211E"/>
                </a:solidFill>
              </a:defRPr>
            </a:lvl2pPr>
            <a:lvl3pPr>
              <a:defRPr sz="1650" b="1">
                <a:solidFill>
                  <a:srgbClr val="25211E"/>
                </a:solidFill>
              </a:defRPr>
            </a:lvl3pPr>
            <a:lvl4pPr>
              <a:defRPr sz="1650" b="1">
                <a:solidFill>
                  <a:srgbClr val="25211E"/>
                </a:solidFill>
              </a:defRPr>
            </a:lvl4pPr>
            <a:lvl5pPr>
              <a:defRPr sz="1650" b="1">
                <a:solidFill>
                  <a:srgbClr val="25211E"/>
                </a:solidFill>
              </a:defRPr>
            </a:lvl5pPr>
            <a:lvl6pPr>
              <a:defRPr sz="1650" b="1">
                <a:solidFill>
                  <a:srgbClr val="25211E"/>
                </a:solidFill>
              </a:defRPr>
            </a:lvl6pPr>
            <a:lvl7pPr>
              <a:defRPr sz="1650" b="1">
                <a:solidFill>
                  <a:srgbClr val="25211E"/>
                </a:solidFill>
              </a:defRPr>
            </a:lvl7pPr>
            <a:lvl8pPr>
              <a:defRPr sz="1650" b="1">
                <a:solidFill>
                  <a:srgbClr val="25211E"/>
                </a:solidFill>
              </a:defRPr>
            </a:lvl8pPr>
            <a:lvl9pPr>
              <a:defRPr sz="16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211E"/>
                </a:solidFill>
              </a:defRPr>
            </a:pPr>
            <a:r>
              <a:rPr sz="1650" b="1">
                <a:solidFill>
                  <a:srgbClr val="25211E"/>
                </a:solidFill>
              </a:rPr>
              <a:t>Autorització i oferta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07E4A-1540-4F67-8085-1530DD2D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147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La petició recorre diversos correus. La comparació d’ofertes queda dispersa.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F03FE-FD88-4579-B75C-E76AC815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719DA-3A51-4DCA-AFC0-8E9BF451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148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5211E"/>
                </a:solidFill>
              </a:defRPr>
            </a:defPPr>
            <a:lvl1pPr>
              <a:defRPr sz="1650" b="1">
                <a:solidFill>
                  <a:srgbClr val="25211E"/>
                </a:solidFill>
              </a:defRPr>
            </a:lvl1pPr>
            <a:lvl2pPr>
              <a:defRPr sz="1650" b="1">
                <a:solidFill>
                  <a:srgbClr val="25211E"/>
                </a:solidFill>
              </a:defRPr>
            </a:lvl2pPr>
            <a:lvl3pPr>
              <a:defRPr sz="1650" b="1">
                <a:solidFill>
                  <a:srgbClr val="25211E"/>
                </a:solidFill>
              </a:defRPr>
            </a:lvl3pPr>
            <a:lvl4pPr>
              <a:defRPr sz="1650" b="1">
                <a:solidFill>
                  <a:srgbClr val="25211E"/>
                </a:solidFill>
              </a:defRPr>
            </a:lvl4pPr>
            <a:lvl5pPr>
              <a:defRPr sz="1650" b="1">
                <a:solidFill>
                  <a:srgbClr val="25211E"/>
                </a:solidFill>
              </a:defRPr>
            </a:lvl5pPr>
            <a:lvl6pPr>
              <a:defRPr sz="1650" b="1">
                <a:solidFill>
                  <a:srgbClr val="25211E"/>
                </a:solidFill>
              </a:defRPr>
            </a:lvl6pPr>
            <a:lvl7pPr>
              <a:defRPr sz="1650" b="1">
                <a:solidFill>
                  <a:srgbClr val="25211E"/>
                </a:solidFill>
              </a:defRPr>
            </a:lvl7pPr>
            <a:lvl8pPr>
              <a:defRPr sz="1650" b="1">
                <a:solidFill>
                  <a:srgbClr val="25211E"/>
                </a:solidFill>
              </a:defRPr>
            </a:lvl8pPr>
            <a:lvl9pPr>
              <a:defRPr sz="16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211E"/>
                </a:solidFill>
              </a:defRPr>
            </a:pPr>
            <a:r>
              <a:rPr sz="1650" b="1">
                <a:solidFill>
                  <a:srgbClr val="25211E"/>
                </a:solidFill>
              </a:rPr>
              <a:t>Lliurament i recepció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124C1-D187-4429-8D9C-3A9AB140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148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La data promesa i les diferències rebudes no es comparteixen a temps.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05C00C-FE32-4B42-A22A-B33AD6A0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1FA8B-8843-4360-937E-E51F5927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114925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25211E"/>
                </a:solidFill>
              </a:defRPr>
            </a:defPPr>
            <a:lvl1pPr>
              <a:defRPr sz="1650" b="1">
                <a:solidFill>
                  <a:srgbClr val="25211E"/>
                </a:solidFill>
              </a:defRPr>
            </a:lvl1pPr>
            <a:lvl2pPr>
              <a:defRPr sz="1650" b="1">
                <a:solidFill>
                  <a:srgbClr val="25211E"/>
                </a:solidFill>
              </a:defRPr>
            </a:lvl2pPr>
            <a:lvl3pPr>
              <a:defRPr sz="1650" b="1">
                <a:solidFill>
                  <a:srgbClr val="25211E"/>
                </a:solidFill>
              </a:defRPr>
            </a:lvl3pPr>
            <a:lvl4pPr>
              <a:defRPr sz="1650" b="1">
                <a:solidFill>
                  <a:srgbClr val="25211E"/>
                </a:solidFill>
              </a:defRPr>
            </a:lvl4pPr>
            <a:lvl5pPr>
              <a:defRPr sz="1650" b="1">
                <a:solidFill>
                  <a:srgbClr val="25211E"/>
                </a:solidFill>
              </a:defRPr>
            </a:lvl5pPr>
            <a:lvl6pPr>
              <a:defRPr sz="1650" b="1">
                <a:solidFill>
                  <a:srgbClr val="25211E"/>
                </a:solidFill>
              </a:defRPr>
            </a:lvl6pPr>
            <a:lvl7pPr>
              <a:defRPr sz="1650" b="1">
                <a:solidFill>
                  <a:srgbClr val="25211E"/>
                </a:solidFill>
              </a:defRPr>
            </a:lvl7pPr>
            <a:lvl8pPr>
              <a:defRPr sz="1650" b="1">
                <a:solidFill>
                  <a:srgbClr val="25211E"/>
                </a:solidFill>
              </a:defRPr>
            </a:lvl8pPr>
            <a:lvl9pPr>
              <a:defRPr sz="165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5211E"/>
                </a:solidFill>
              </a:defRPr>
            </a:pPr>
            <a:r>
              <a:rPr sz="1650" b="1">
                <a:solidFill>
                  <a:srgbClr val="25211E"/>
                </a:solidFill>
              </a:rPr>
              <a:t>Qualitat i entrada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F215C-F4DD-417E-8967-D332CE5C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1149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Un lot pendent pot aparentar disponible; l’estoc es registra després a mà.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83AF8B-C483-4847-A38D-92B66997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5408A-53FF-4AB5-8B0A-57105CD6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Abast: del pla de fabricació fins a l’estoc acceptat i comunicat a producció.</a:t>
            </a:r>
          </a:p>
        </p:txBody>
      </p:sp>
    </p:spTree>
    <p:extLst>
      <p:ext uri="{BB962C8B-B14F-4D97-AF65-F5344CB8AC3E}">
        <p14:creationId xmlns:p14="http://schemas.microsoft.com/office/powerpoint/2010/main" val="4012200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F69CCC-E7D1-4708-9344-4D43F401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A74F32"/>
                </a:solidFill>
              </a:defRPr>
            </a:defPPr>
            <a:lvl1pPr>
              <a:defRPr sz="1725" b="1">
                <a:solidFill>
                  <a:srgbClr val="A74F32"/>
                </a:solidFill>
              </a:defRPr>
            </a:lvl1pPr>
            <a:lvl2pPr>
              <a:defRPr sz="1725" b="1">
                <a:solidFill>
                  <a:srgbClr val="A74F32"/>
                </a:solidFill>
              </a:defRPr>
            </a:lvl2pPr>
            <a:lvl3pPr>
              <a:defRPr sz="1725" b="1">
                <a:solidFill>
                  <a:srgbClr val="A74F32"/>
                </a:solidFill>
              </a:defRPr>
            </a:lvl3pPr>
            <a:lvl4pPr>
              <a:defRPr sz="1725" b="1">
                <a:solidFill>
                  <a:srgbClr val="A74F32"/>
                </a:solidFill>
              </a:defRPr>
            </a:lvl4pPr>
            <a:lvl5pPr>
              <a:defRPr sz="1725" b="1">
                <a:solidFill>
                  <a:srgbClr val="A74F32"/>
                </a:solidFill>
              </a:defRPr>
            </a:lvl5pPr>
            <a:lvl6pPr>
              <a:defRPr sz="1725" b="1">
                <a:solidFill>
                  <a:srgbClr val="A74F32"/>
                </a:solidFill>
              </a:defRPr>
            </a:lvl6pPr>
            <a:lvl7pPr>
              <a:defRPr sz="1725" b="1">
                <a:solidFill>
                  <a:srgbClr val="A74F32"/>
                </a:solidFill>
              </a:defRPr>
            </a:lvl7pPr>
            <a:lvl8pPr>
              <a:defRPr sz="1725" b="1">
                <a:solidFill>
                  <a:srgbClr val="A74F32"/>
                </a:solidFill>
              </a:defRPr>
            </a:lvl8pPr>
            <a:lvl9pPr>
              <a:defRPr sz="172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74F32"/>
                </a:solidFill>
              </a:defRPr>
            </a:pPr>
            <a:r>
              <a:rPr sz="1725" b="1">
                <a:solidFill>
                  <a:srgbClr val="A74F32"/>
                </a:solidFill>
              </a:rPr>
              <a:t>NEXE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00135-0ED3-4D1B-A326-C5F24D71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665E57"/>
                </a:solidFill>
              </a:defRPr>
            </a:defPPr>
            <a:lvl1pPr>
              <a:defRPr sz="1125" b="1">
                <a:solidFill>
                  <a:srgbClr val="665E57"/>
                </a:solidFill>
              </a:defRPr>
            </a:lvl1pPr>
            <a:lvl2pPr>
              <a:defRPr sz="1125" b="1">
                <a:solidFill>
                  <a:srgbClr val="665E57"/>
                </a:solidFill>
              </a:defRPr>
            </a:lvl2pPr>
            <a:lvl3pPr>
              <a:defRPr sz="1125" b="1">
                <a:solidFill>
                  <a:srgbClr val="665E57"/>
                </a:solidFill>
              </a:defRPr>
            </a:lvl3pPr>
            <a:lvl4pPr>
              <a:defRPr sz="1125" b="1">
                <a:solidFill>
                  <a:srgbClr val="665E57"/>
                </a:solidFill>
              </a:defRPr>
            </a:lvl4pPr>
            <a:lvl5pPr>
              <a:defRPr sz="1125" b="1">
                <a:solidFill>
                  <a:srgbClr val="665E57"/>
                </a:solidFill>
              </a:defRPr>
            </a:lvl5pPr>
            <a:lvl6pPr>
              <a:defRPr sz="1125" b="1">
                <a:solidFill>
                  <a:srgbClr val="665E57"/>
                </a:solidFill>
              </a:defRPr>
            </a:lvl6pPr>
            <a:lvl7pPr>
              <a:defRPr sz="1125" b="1">
                <a:solidFill>
                  <a:srgbClr val="665E57"/>
                </a:solidFill>
              </a:defRPr>
            </a:lvl7pPr>
            <a:lvl8pPr>
              <a:defRPr sz="1125" b="1">
                <a:solidFill>
                  <a:srgbClr val="665E57"/>
                </a:solidFill>
              </a:defRPr>
            </a:lvl8pPr>
            <a:lvl9pPr>
              <a:defRPr sz="1125" b="1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665E57"/>
                </a:solidFill>
              </a:defRPr>
            </a:pPr>
            <a:r>
              <a:rPr sz="1125" b="1">
                <a:solidFill>
                  <a:srgbClr val="665E57"/>
                </a:solidFill>
              </a:rPr>
              <a:t>PROPOSTA DE MILLORA · TO-BE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40828-651D-486A-B302-83058A09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3238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665E57"/>
                </a:solidFill>
              </a:defRPr>
            </a:defPPr>
            <a:lvl1pPr>
              <a:defRPr sz="1125" b="0">
                <a:solidFill>
                  <a:srgbClr val="665E57"/>
                </a:solidFill>
              </a:defRPr>
            </a:lvl1pPr>
            <a:lvl2pPr>
              <a:defRPr sz="1125" b="0">
                <a:solidFill>
                  <a:srgbClr val="665E57"/>
                </a:solidFill>
              </a:defRPr>
            </a:lvl2pPr>
            <a:lvl3pPr>
              <a:defRPr sz="1125" b="0">
                <a:solidFill>
                  <a:srgbClr val="665E57"/>
                </a:solidFill>
              </a:defRPr>
            </a:lvl3pPr>
            <a:lvl4pPr>
              <a:defRPr sz="1125" b="0">
                <a:solidFill>
                  <a:srgbClr val="665E57"/>
                </a:solidFill>
              </a:defRPr>
            </a:lvl4pPr>
            <a:lvl5pPr>
              <a:defRPr sz="1125" b="0">
                <a:solidFill>
                  <a:srgbClr val="665E57"/>
                </a:solidFill>
              </a:defRPr>
            </a:lvl5pPr>
            <a:lvl6pPr>
              <a:defRPr sz="1125" b="0">
                <a:solidFill>
                  <a:srgbClr val="665E57"/>
                </a:solidFill>
              </a:defRPr>
            </a:lvl6pPr>
            <a:lvl7pPr>
              <a:defRPr sz="1125" b="0">
                <a:solidFill>
                  <a:srgbClr val="665E57"/>
                </a:solidFill>
              </a:defRPr>
            </a:lvl7pPr>
            <a:lvl8pPr>
              <a:defRPr sz="1125" b="0">
                <a:solidFill>
                  <a:srgbClr val="665E57"/>
                </a:solidFill>
              </a:defRPr>
            </a:lvl8pPr>
            <a:lvl9pPr>
              <a:defRPr sz="1125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5E57"/>
                </a:solidFill>
              </a:defRPr>
            </a:pPr>
            <a:r>
              <a:rPr sz="1125" b="0">
                <a:solidFill>
                  <a:srgbClr val="665E57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921F2-A0CA-4567-BD14-EFFDB49E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0DCC7-A445-4B7A-AF35-18930852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00" b="1">
                <a:solidFill>
                  <a:srgbClr val="25211E"/>
                </a:solidFill>
              </a:defRPr>
            </a:defPPr>
            <a:lvl1pPr>
              <a:defRPr sz="3300" b="1">
                <a:solidFill>
                  <a:srgbClr val="25211E"/>
                </a:solidFill>
              </a:defRPr>
            </a:lvl1pPr>
            <a:lvl2pPr>
              <a:defRPr sz="3300" b="1">
                <a:solidFill>
                  <a:srgbClr val="25211E"/>
                </a:solidFill>
              </a:defRPr>
            </a:lvl2pPr>
            <a:lvl3pPr>
              <a:defRPr sz="3300" b="1">
                <a:solidFill>
                  <a:srgbClr val="25211E"/>
                </a:solidFill>
              </a:defRPr>
            </a:lvl3pPr>
            <a:lvl4pPr>
              <a:defRPr sz="3300" b="1">
                <a:solidFill>
                  <a:srgbClr val="25211E"/>
                </a:solidFill>
              </a:defRPr>
            </a:lvl4pPr>
            <a:lvl5pPr>
              <a:defRPr sz="3300" b="1">
                <a:solidFill>
                  <a:srgbClr val="25211E"/>
                </a:solidFill>
              </a:defRPr>
            </a:lvl5pPr>
            <a:lvl6pPr>
              <a:defRPr sz="3300" b="1">
                <a:solidFill>
                  <a:srgbClr val="25211E"/>
                </a:solidFill>
              </a:defRPr>
            </a:lvl6pPr>
            <a:lvl7pPr>
              <a:defRPr sz="3300" b="1">
                <a:solidFill>
                  <a:srgbClr val="25211E"/>
                </a:solidFill>
              </a:defRPr>
            </a:lvl7pPr>
            <a:lvl8pPr>
              <a:defRPr sz="3300" b="1">
                <a:solidFill>
                  <a:srgbClr val="25211E"/>
                </a:solidFill>
              </a:defRPr>
            </a:lvl8pPr>
            <a:lvl9pPr>
              <a:defRPr sz="3300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5211E"/>
                </a:solidFill>
              </a:defRPr>
            </a:pPr>
            <a:r>
              <a:rPr sz="3300" b="1">
                <a:solidFill>
                  <a:srgbClr val="25211E"/>
                </a:solidFill>
              </a:rPr>
              <a:t>Una dada compartida i decisions traçables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46B5C-E513-453B-83E7-9D380B86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665E57"/>
                </a:solidFill>
              </a:defRPr>
            </a:defPPr>
            <a:lvl1pPr>
              <a:defRPr sz="1800" b="0">
                <a:solidFill>
                  <a:srgbClr val="665E57"/>
                </a:solidFill>
              </a:defRPr>
            </a:lvl1pPr>
            <a:lvl2pPr>
              <a:defRPr sz="1800" b="0">
                <a:solidFill>
                  <a:srgbClr val="665E57"/>
                </a:solidFill>
              </a:defRPr>
            </a:lvl2pPr>
            <a:lvl3pPr>
              <a:defRPr sz="1800" b="0">
                <a:solidFill>
                  <a:srgbClr val="665E57"/>
                </a:solidFill>
              </a:defRPr>
            </a:lvl3pPr>
            <a:lvl4pPr>
              <a:defRPr sz="1800" b="0">
                <a:solidFill>
                  <a:srgbClr val="665E57"/>
                </a:solidFill>
              </a:defRPr>
            </a:lvl4pPr>
            <a:lvl5pPr>
              <a:defRPr sz="1800" b="0">
                <a:solidFill>
                  <a:srgbClr val="665E57"/>
                </a:solidFill>
              </a:defRPr>
            </a:lvl5pPr>
            <a:lvl6pPr>
              <a:defRPr sz="1800" b="0">
                <a:solidFill>
                  <a:srgbClr val="665E57"/>
                </a:solidFill>
              </a:defRPr>
            </a:lvl6pPr>
            <a:lvl7pPr>
              <a:defRPr sz="1800" b="0">
                <a:solidFill>
                  <a:srgbClr val="665E57"/>
                </a:solidFill>
              </a:defRPr>
            </a:lvl7pPr>
            <a:lvl8pPr>
              <a:defRPr sz="1800" b="0">
                <a:solidFill>
                  <a:srgbClr val="665E57"/>
                </a:solidFill>
              </a:defRPr>
            </a:lvl8pPr>
            <a:lvl9pPr>
              <a:defRPr sz="180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65E57"/>
                </a:solidFill>
              </a:defRPr>
            </a:pPr>
            <a:r>
              <a:rPr sz="1800" b="0">
                <a:solidFill>
                  <a:srgbClr val="665E57"/>
                </a:solidFill>
              </a:rPr>
              <a:t>El TO-BE vincula necessitat, compra, recepció i qualitat en un únic recorregut.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2F637-902A-4767-9858-5BEE6E55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A58FA-85F8-437B-8B55-7F61582B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527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5211E"/>
                </a:solidFill>
              </a:defRPr>
            </a:defPPr>
            <a:lvl1pPr>
              <a:defRPr sz="1575" b="1">
                <a:solidFill>
                  <a:srgbClr val="25211E"/>
                </a:solidFill>
              </a:defRPr>
            </a:lvl1pPr>
            <a:lvl2pPr>
              <a:defRPr sz="1575" b="1">
                <a:solidFill>
                  <a:srgbClr val="25211E"/>
                </a:solidFill>
              </a:defRPr>
            </a:lvl2pPr>
            <a:lvl3pPr>
              <a:defRPr sz="1575" b="1">
                <a:solidFill>
                  <a:srgbClr val="25211E"/>
                </a:solidFill>
              </a:defRPr>
            </a:lvl3pPr>
            <a:lvl4pPr>
              <a:defRPr sz="1575" b="1">
                <a:solidFill>
                  <a:srgbClr val="25211E"/>
                </a:solidFill>
              </a:defRPr>
            </a:lvl4pPr>
            <a:lvl5pPr>
              <a:defRPr sz="1575" b="1">
                <a:solidFill>
                  <a:srgbClr val="25211E"/>
                </a:solidFill>
              </a:defRPr>
            </a:lvl5pPr>
            <a:lvl6pPr>
              <a:defRPr sz="1575" b="1">
                <a:solidFill>
                  <a:srgbClr val="25211E"/>
                </a:solidFill>
              </a:defRPr>
            </a:lvl6pPr>
            <a:lvl7pPr>
              <a:defRPr sz="1575" b="1">
                <a:solidFill>
                  <a:srgbClr val="25211E"/>
                </a:solidFill>
              </a:defRPr>
            </a:lvl7pPr>
            <a:lvl8pPr>
              <a:defRPr sz="1575" b="1">
                <a:solidFill>
                  <a:srgbClr val="25211E"/>
                </a:solidFill>
              </a:defRPr>
            </a:lvl8pPr>
            <a:lvl9pPr>
              <a:defRPr sz="1575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5211E"/>
                </a:solidFill>
              </a:defRPr>
            </a:pPr>
            <a:r>
              <a:rPr sz="1575" b="1">
                <a:solidFill>
                  <a:srgbClr val="25211E"/>
                </a:solidFill>
              </a:rPr>
              <a:t>Pla i existències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44593-8697-4E60-85B0-B3B4C0B7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943225"/>
            <a:ext cx="7181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Registrar la versió del pla i calcular estoc real descomptant reserves i lots bloquejats.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DEDC95-EDA1-40A5-8CC7-A4B7F282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B2D0C-302B-4C8E-BA24-7D635A44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957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5211E"/>
                </a:solidFill>
              </a:defRPr>
            </a:defPPr>
            <a:lvl1pPr>
              <a:defRPr sz="1575" b="1">
                <a:solidFill>
                  <a:srgbClr val="25211E"/>
                </a:solidFill>
              </a:defRPr>
            </a:lvl1pPr>
            <a:lvl2pPr>
              <a:defRPr sz="1575" b="1">
                <a:solidFill>
                  <a:srgbClr val="25211E"/>
                </a:solidFill>
              </a:defRPr>
            </a:lvl2pPr>
            <a:lvl3pPr>
              <a:defRPr sz="1575" b="1">
                <a:solidFill>
                  <a:srgbClr val="25211E"/>
                </a:solidFill>
              </a:defRPr>
            </a:lvl3pPr>
            <a:lvl4pPr>
              <a:defRPr sz="1575" b="1">
                <a:solidFill>
                  <a:srgbClr val="25211E"/>
                </a:solidFill>
              </a:defRPr>
            </a:lvl4pPr>
            <a:lvl5pPr>
              <a:defRPr sz="1575" b="1">
                <a:solidFill>
                  <a:srgbClr val="25211E"/>
                </a:solidFill>
              </a:defRPr>
            </a:lvl5pPr>
            <a:lvl6pPr>
              <a:defRPr sz="1575" b="1">
                <a:solidFill>
                  <a:srgbClr val="25211E"/>
                </a:solidFill>
              </a:defRPr>
            </a:lvl6pPr>
            <a:lvl7pPr>
              <a:defRPr sz="1575" b="1">
                <a:solidFill>
                  <a:srgbClr val="25211E"/>
                </a:solidFill>
              </a:defRPr>
            </a:lvl7pPr>
            <a:lvl8pPr>
              <a:defRPr sz="1575" b="1">
                <a:solidFill>
                  <a:srgbClr val="25211E"/>
                </a:solidFill>
              </a:defRPr>
            </a:lvl8pPr>
            <a:lvl9pPr>
              <a:defRPr sz="1575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5211E"/>
                </a:solidFill>
              </a:defRPr>
            </a:pPr>
            <a:r>
              <a:rPr sz="1575" b="1">
                <a:solidFill>
                  <a:srgbClr val="25211E"/>
                </a:solidFill>
              </a:rPr>
              <a:t>Compra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65AE3E-C0ED-4F48-BEA1-D0D03935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686175"/>
            <a:ext cx="7181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Assignar aprovació, comparar ofertes amb criteris comuns i conservar el motiu de la decisió.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C9F5F-E161-4BD7-98E6-62A77A33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A816B-7307-4599-B36A-C6A09D51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5211E"/>
                </a:solidFill>
              </a:defRPr>
            </a:defPPr>
            <a:lvl1pPr>
              <a:defRPr sz="1575" b="1">
                <a:solidFill>
                  <a:srgbClr val="25211E"/>
                </a:solidFill>
              </a:defRPr>
            </a:lvl1pPr>
            <a:lvl2pPr>
              <a:defRPr sz="1575" b="1">
                <a:solidFill>
                  <a:srgbClr val="25211E"/>
                </a:solidFill>
              </a:defRPr>
            </a:lvl2pPr>
            <a:lvl3pPr>
              <a:defRPr sz="1575" b="1">
                <a:solidFill>
                  <a:srgbClr val="25211E"/>
                </a:solidFill>
              </a:defRPr>
            </a:lvl3pPr>
            <a:lvl4pPr>
              <a:defRPr sz="1575" b="1">
                <a:solidFill>
                  <a:srgbClr val="25211E"/>
                </a:solidFill>
              </a:defRPr>
            </a:lvl4pPr>
            <a:lvl5pPr>
              <a:defRPr sz="1575" b="1">
                <a:solidFill>
                  <a:srgbClr val="25211E"/>
                </a:solidFill>
              </a:defRPr>
            </a:lvl5pPr>
            <a:lvl6pPr>
              <a:defRPr sz="1575" b="1">
                <a:solidFill>
                  <a:srgbClr val="25211E"/>
                </a:solidFill>
              </a:defRPr>
            </a:lvl6pPr>
            <a:lvl7pPr>
              <a:defRPr sz="1575" b="1">
                <a:solidFill>
                  <a:srgbClr val="25211E"/>
                </a:solidFill>
              </a:defRPr>
            </a:lvl7pPr>
            <a:lvl8pPr>
              <a:defRPr sz="1575" b="1">
                <a:solidFill>
                  <a:srgbClr val="25211E"/>
                </a:solidFill>
              </a:defRPr>
            </a:lvl8pPr>
            <a:lvl9pPr>
              <a:defRPr sz="1575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5211E"/>
                </a:solidFill>
              </a:defRPr>
            </a:pPr>
            <a:r>
              <a:rPr sz="1575" b="1">
                <a:solidFill>
                  <a:srgbClr val="25211E"/>
                </a:solidFill>
              </a:rPr>
              <a:t>Lliurament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3E7D15-A042-40E4-86DD-D649F18C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429125"/>
            <a:ext cx="7181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Contrastar data confirmada amb data requerida; avisar producció si hi ha risc.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F1E15-D5B2-4317-8F8F-0D108C36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613AD-681C-4E42-AAF0-1DF67BC2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816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5211E"/>
                </a:solidFill>
              </a:defRPr>
            </a:defPPr>
            <a:lvl1pPr>
              <a:defRPr sz="1575" b="1">
                <a:solidFill>
                  <a:srgbClr val="25211E"/>
                </a:solidFill>
              </a:defRPr>
            </a:lvl1pPr>
            <a:lvl2pPr>
              <a:defRPr sz="1575" b="1">
                <a:solidFill>
                  <a:srgbClr val="25211E"/>
                </a:solidFill>
              </a:defRPr>
            </a:lvl2pPr>
            <a:lvl3pPr>
              <a:defRPr sz="1575" b="1">
                <a:solidFill>
                  <a:srgbClr val="25211E"/>
                </a:solidFill>
              </a:defRPr>
            </a:lvl3pPr>
            <a:lvl4pPr>
              <a:defRPr sz="1575" b="1">
                <a:solidFill>
                  <a:srgbClr val="25211E"/>
                </a:solidFill>
              </a:defRPr>
            </a:lvl4pPr>
            <a:lvl5pPr>
              <a:defRPr sz="1575" b="1">
                <a:solidFill>
                  <a:srgbClr val="25211E"/>
                </a:solidFill>
              </a:defRPr>
            </a:lvl5pPr>
            <a:lvl6pPr>
              <a:defRPr sz="1575" b="1">
                <a:solidFill>
                  <a:srgbClr val="25211E"/>
                </a:solidFill>
              </a:defRPr>
            </a:lvl6pPr>
            <a:lvl7pPr>
              <a:defRPr sz="1575" b="1">
                <a:solidFill>
                  <a:srgbClr val="25211E"/>
                </a:solidFill>
              </a:defRPr>
            </a:lvl7pPr>
            <a:lvl8pPr>
              <a:defRPr sz="1575" b="1">
                <a:solidFill>
                  <a:srgbClr val="25211E"/>
                </a:solidFill>
              </a:defRPr>
            </a:lvl8pPr>
            <a:lvl9pPr>
              <a:defRPr sz="1575" b="1">
                <a:solidFill>
                  <a:srgbClr val="25211E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5211E"/>
                </a:solidFill>
              </a:defRPr>
            </a:pPr>
            <a:r>
              <a:rPr sz="1575" b="1">
                <a:solidFill>
                  <a:srgbClr val="25211E"/>
                </a:solidFill>
              </a:rPr>
              <a:t>Recepció i qualitat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FAB3D-0834-46FD-AB72-E2753382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172075"/>
            <a:ext cx="7181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665E57"/>
                </a:solidFill>
              </a:defRPr>
            </a:defPPr>
            <a:lvl1pPr>
              <a:defRPr sz="1350" b="0">
                <a:solidFill>
                  <a:srgbClr val="665E57"/>
                </a:solidFill>
              </a:defRPr>
            </a:lvl1pPr>
            <a:lvl2pPr>
              <a:defRPr sz="1350" b="0">
                <a:solidFill>
                  <a:srgbClr val="665E57"/>
                </a:solidFill>
              </a:defRPr>
            </a:lvl2pPr>
            <a:lvl3pPr>
              <a:defRPr sz="1350" b="0">
                <a:solidFill>
                  <a:srgbClr val="665E57"/>
                </a:solidFill>
              </a:defRPr>
            </a:lvl3pPr>
            <a:lvl4pPr>
              <a:defRPr sz="1350" b="0">
                <a:solidFill>
                  <a:srgbClr val="665E57"/>
                </a:solidFill>
              </a:defRPr>
            </a:lvl4pPr>
            <a:lvl5pPr>
              <a:defRPr sz="1350" b="0">
                <a:solidFill>
                  <a:srgbClr val="665E57"/>
                </a:solidFill>
              </a:defRPr>
            </a:lvl5pPr>
            <a:lvl6pPr>
              <a:defRPr sz="1350" b="0">
                <a:solidFill>
                  <a:srgbClr val="665E57"/>
                </a:solidFill>
              </a:defRPr>
            </a:lvl6pPr>
            <a:lvl7pPr>
              <a:defRPr sz="1350" b="0">
                <a:solidFill>
                  <a:srgbClr val="665E57"/>
                </a:solidFill>
              </a:defRPr>
            </a:lvl7pPr>
            <a:lvl8pPr>
              <a:defRPr sz="1350" b="0">
                <a:solidFill>
                  <a:srgbClr val="665E57"/>
                </a:solidFill>
              </a:defRPr>
            </a:lvl8pPr>
            <a:lvl9pPr>
              <a:defRPr sz="1350" b="0">
                <a:solidFill>
                  <a:srgbClr val="665E57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5E57"/>
                </a:solidFill>
              </a:defRPr>
            </a:pPr>
            <a:r>
              <a:rPr sz="1350" b="0">
                <a:solidFill>
                  <a:srgbClr val="665E57"/>
                </a:solidFill>
              </a:rPr>
              <a:t>Obrir incidències per diferències, bloquejar el lot fins a l’acceptació i actualitzar l’estoc una sola vegada.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FECC1-16F6-4288-8AC6-2139928A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7365A-6790-4E9D-BE98-F6889C80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A74F32"/>
                </a:solidFill>
              </a:defRPr>
            </a:defPPr>
            <a:lvl1pPr>
              <a:defRPr sz="1275" b="1">
                <a:solidFill>
                  <a:srgbClr val="A74F32"/>
                </a:solidFill>
              </a:defRPr>
            </a:lvl1pPr>
            <a:lvl2pPr>
              <a:defRPr sz="1275" b="1">
                <a:solidFill>
                  <a:srgbClr val="A74F32"/>
                </a:solidFill>
              </a:defRPr>
            </a:lvl2pPr>
            <a:lvl3pPr>
              <a:defRPr sz="1275" b="1">
                <a:solidFill>
                  <a:srgbClr val="A74F32"/>
                </a:solidFill>
              </a:defRPr>
            </a:lvl3pPr>
            <a:lvl4pPr>
              <a:defRPr sz="1275" b="1">
                <a:solidFill>
                  <a:srgbClr val="A74F32"/>
                </a:solidFill>
              </a:defRPr>
            </a:lvl4pPr>
            <a:lvl5pPr>
              <a:defRPr sz="1275" b="1">
                <a:solidFill>
                  <a:srgbClr val="A74F32"/>
                </a:solidFill>
              </a:defRPr>
            </a:lvl5pPr>
            <a:lvl6pPr>
              <a:defRPr sz="1275" b="1">
                <a:solidFill>
                  <a:srgbClr val="A74F32"/>
                </a:solidFill>
              </a:defRPr>
            </a:lvl6pPr>
            <a:lvl7pPr>
              <a:defRPr sz="1275" b="1">
                <a:solidFill>
                  <a:srgbClr val="A74F32"/>
                </a:solidFill>
              </a:defRPr>
            </a:lvl7pPr>
            <a:lvl8pPr>
              <a:defRPr sz="1275" b="1">
                <a:solidFill>
                  <a:srgbClr val="A74F32"/>
                </a:solidFill>
              </a:defRPr>
            </a:lvl8pPr>
            <a:lvl9pPr>
              <a:defRPr sz="1275" b="1">
                <a:solidFill>
                  <a:srgbClr val="A74F32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A74F32"/>
                </a:solidFill>
              </a:defRPr>
            </a:pPr>
            <a:r>
              <a:rPr sz="1275" b="1">
                <a:solidFill>
                  <a:srgbClr val="A74F32"/>
                </a:solidFill>
              </a:rPr>
              <a:t>ERP: dades i avisos. Persones: aprovació, selecció de proveïdor i control de qualitat.</a:t>
            </a:r>
          </a:p>
        </p:txBody>
      </p:sp>
    </p:spTree>
    <p:extLst>
      <p:ext uri="{BB962C8B-B14F-4D97-AF65-F5344CB8AC3E}">
        <p14:creationId xmlns:p14="http://schemas.microsoft.com/office/powerpoint/2010/main" val="1060247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2026-10-22T15:15:06.7660000Z</dcterms:created>
  <dcterms:modified xsi:type="dcterms:W3CDTF">2026-10-22T15:15:06.7660000Z</dcterms:modified>
</coreProperties>
</file>