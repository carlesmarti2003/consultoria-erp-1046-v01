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b0a80988194460" /><Relationship Type="http://schemas.openxmlformats.org/officeDocument/2006/relationships/extended-properties" Target="/docProps/app.xml" Id="R1e08a5f8fb5b4b80" /><Relationship Type="http://schemas.openxmlformats.org/officeDocument/2006/relationships/officeDocument" Target="/ppt/presentation.xml" Id="Rd11167579b2a4e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434867e8b34465"/>
  </p:sldMasterIdLst>
  <p:notesMasterIdLst>
    <p:notesMasterId xmlns:r="http://schemas.openxmlformats.org/officeDocument/2006/relationships" r:id="R94e6140b9a71422f"/>
  </p:notesMasterIdLst>
  <p:sldIdLst>
    <p:sldId xmlns:r="http://schemas.openxmlformats.org/officeDocument/2006/relationships" id="256" r:id="R272180279de64316"/>
    <p:sldId xmlns:r="http://schemas.openxmlformats.org/officeDocument/2006/relationships" id="257" r:id="R806a20e2d7634f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d1b034bf0e464f" /><Relationship Type="http://schemas.openxmlformats.org/officeDocument/2006/relationships/slideMaster" Target="/ppt/slideMasters/slideMaster1.xml" Id="Rc7434867e8b34465" /><Relationship Type="http://schemas.openxmlformats.org/officeDocument/2006/relationships/notesMaster" Target="/ppt/notesMasters/notesMaster1.xml" Id="R94e6140b9a71422f" /><Relationship Type="http://schemas.openxmlformats.org/officeDocument/2006/relationships/presProps" Target="/ppt/presProps.xml" Id="R0ec53ebf4d374db4" /><Relationship Type="http://schemas.openxmlformats.org/officeDocument/2006/relationships/tableStyles" Target="/ppt/tableStyles.xml" Id="Rad624a2d3ff445be" /><Relationship Type="http://schemas.openxmlformats.org/officeDocument/2006/relationships/slide" Target="/ppt/slides/slide1.xml" Id="R272180279de64316" /><Relationship Type="http://schemas.openxmlformats.org/officeDocument/2006/relationships/slide" Target="/ppt/slides/slide2.xml" Id="R806a20e2d7634f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89fe2cf9054a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43ae6aad2c455b" /><Relationship Type="http://schemas.openxmlformats.org/officeDocument/2006/relationships/notesMaster" Target="/ppt/notesMasters/notesMaster1.xml" Id="R41107ed650be4d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c09f728e324dfe" /><Relationship Type="http://schemas.openxmlformats.org/officeDocument/2006/relationships/notesMaster" Target="/ppt/notesMasters/notesMaster1.xml" Id="R09ae39d394f148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907dcf3fa44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f27abe2154a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3f2c31aa2a4f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a1c0adcc34c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98b23837744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f709db65346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A60D85-C80D-4620-9D42-8456C8D30D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3E18BB9-6DF9-447F-A46B-5308297CD1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3C915D-F780-4054-A741-D3BFDB2352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117A18-C438-4EE2-B77A-B99316E5ED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41D2C1F-EB66-49BF-B9E8-8AF36543CC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ECE0FD-1606-48BF-9384-7A83223990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CC59AD-39B9-44A9-BB68-2660C0AA49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3E914D-F026-46AB-9BB1-DE651B2EA7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B17115-A724-44B9-8252-B6F8FC78C2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A57D28-E6D6-4595-8C38-A14CFD585E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839bd908854064" /><Relationship Type="http://schemas.openxmlformats.org/officeDocument/2006/relationships/slideLayout" Target="/ppt/slideLayouts/slideLayout1.xml" Id="Ra6b17d2df1654534" /><Relationship Type="http://schemas.openxmlformats.org/officeDocument/2006/relationships/slideLayout" Target="/ppt/slideLayouts/slideLayout2.xml" Id="R368881c123294bf3" /><Relationship Type="http://schemas.openxmlformats.org/officeDocument/2006/relationships/slideLayout" Target="/ppt/slideLayouts/slideLayout3.xml" Id="Rbfcbe81bb2504431" /><Relationship Type="http://schemas.openxmlformats.org/officeDocument/2006/relationships/slideLayout" Target="/ppt/slideLayouts/slideLayout4.xml" Id="R062a0427831442e5" /><Relationship Type="http://schemas.openxmlformats.org/officeDocument/2006/relationships/slideLayout" Target="/ppt/slideLayouts/slideLayout5.xml" Id="R18ab6330a2484a75" /><Relationship Type="http://schemas.openxmlformats.org/officeDocument/2006/relationships/slideLayout" Target="/ppt/slideLayouts/slideLayout6.xml" Id="R9bbbbf3ed19544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b17d2df1654534"/>
    <p:sldLayoutId xmlns:r="http://schemas.openxmlformats.org/officeDocument/2006/relationships" id="2147483650" r:id="R368881c123294bf3"/>
    <p:sldLayoutId xmlns:r="http://schemas.openxmlformats.org/officeDocument/2006/relationships" id="2147483651" r:id="Rbfcbe81bb2504431"/>
    <p:sldLayoutId xmlns:r="http://schemas.openxmlformats.org/officeDocument/2006/relationships" id="2147483652" r:id="R062a0427831442e5"/>
    <p:sldLayoutId xmlns:r="http://schemas.openxmlformats.org/officeDocument/2006/relationships" id="2147483653" r:id="R18ab6330a2484a75"/>
    <p:sldLayoutId xmlns:r="http://schemas.openxmlformats.org/officeDocument/2006/relationships" id="2147483654" r:id="R9bbbbf3ed19544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a7428ca6b94216" /><Relationship Type="http://schemas.openxmlformats.org/officeDocument/2006/relationships/notesSlide" Target="/ppt/notesSlides/notesSlide1.xml" Id="Rbcb96e85207a47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e13c101eb4842" /><Relationship Type="http://schemas.openxmlformats.org/officeDocument/2006/relationships/notesSlide" Target="/ppt/notesSlides/notesSlide2.xml" Id="Rb1d44d9cbd4340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1503D-22B8-4976-8CA4-8D585A8C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74F32"/>
                </a:solidFill>
              </a:defRPr>
            </a:defPPr>
            <a:lvl1pPr>
              <a:defRPr sz="1725" b="1">
                <a:solidFill>
                  <a:srgbClr val="A74F32"/>
                </a:solidFill>
              </a:defRPr>
            </a:lvl1pPr>
            <a:lvl2pPr>
              <a:defRPr sz="1725" b="1">
                <a:solidFill>
                  <a:srgbClr val="A74F32"/>
                </a:solidFill>
              </a:defRPr>
            </a:lvl2pPr>
            <a:lvl3pPr>
              <a:defRPr sz="1725" b="1">
                <a:solidFill>
                  <a:srgbClr val="A74F32"/>
                </a:solidFill>
              </a:defRPr>
            </a:lvl3pPr>
            <a:lvl4pPr>
              <a:defRPr sz="1725" b="1">
                <a:solidFill>
                  <a:srgbClr val="A74F32"/>
                </a:solidFill>
              </a:defRPr>
            </a:lvl4pPr>
            <a:lvl5pPr>
              <a:defRPr sz="1725" b="1">
                <a:solidFill>
                  <a:srgbClr val="A74F32"/>
                </a:solidFill>
              </a:defRPr>
            </a:lvl5pPr>
            <a:lvl6pPr>
              <a:defRPr sz="1725" b="1">
                <a:solidFill>
                  <a:srgbClr val="A74F32"/>
                </a:solidFill>
              </a:defRPr>
            </a:lvl6pPr>
            <a:lvl7pPr>
              <a:defRPr sz="1725" b="1">
                <a:solidFill>
                  <a:srgbClr val="A74F32"/>
                </a:solidFill>
              </a:defRPr>
            </a:lvl7pPr>
            <a:lvl8pPr>
              <a:defRPr sz="1725" b="1">
                <a:solidFill>
                  <a:srgbClr val="A74F32"/>
                </a:solidFill>
              </a:defRPr>
            </a:lvl8pPr>
            <a:lvl9pPr>
              <a:defRPr sz="172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74F32"/>
                </a:solidFill>
              </a:defRPr>
            </a:pPr>
            <a:r>
              <a:rPr sz="1725" b="1">
                <a:solidFill>
                  <a:srgbClr val="A74F32"/>
                </a:solidFill>
              </a:rPr>
              <a:t>NEXE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B4A0F-C0B8-49D8-A499-FB2B1470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65E57"/>
                </a:solidFill>
              </a:defRPr>
            </a:defPPr>
            <a:lvl1pPr>
              <a:defRPr sz="1125" b="1">
                <a:solidFill>
                  <a:srgbClr val="665E57"/>
                </a:solidFill>
              </a:defRPr>
            </a:lvl1pPr>
            <a:lvl2pPr>
              <a:defRPr sz="1125" b="1">
                <a:solidFill>
                  <a:srgbClr val="665E57"/>
                </a:solidFill>
              </a:defRPr>
            </a:lvl2pPr>
            <a:lvl3pPr>
              <a:defRPr sz="1125" b="1">
                <a:solidFill>
                  <a:srgbClr val="665E57"/>
                </a:solidFill>
              </a:defRPr>
            </a:lvl3pPr>
            <a:lvl4pPr>
              <a:defRPr sz="1125" b="1">
                <a:solidFill>
                  <a:srgbClr val="665E57"/>
                </a:solidFill>
              </a:defRPr>
            </a:lvl4pPr>
            <a:lvl5pPr>
              <a:defRPr sz="1125" b="1">
                <a:solidFill>
                  <a:srgbClr val="665E57"/>
                </a:solidFill>
              </a:defRPr>
            </a:lvl5pPr>
            <a:lvl6pPr>
              <a:defRPr sz="1125" b="1">
                <a:solidFill>
                  <a:srgbClr val="665E57"/>
                </a:solidFill>
              </a:defRPr>
            </a:lvl6pPr>
            <a:lvl7pPr>
              <a:defRPr sz="1125" b="1">
                <a:solidFill>
                  <a:srgbClr val="665E57"/>
                </a:solidFill>
              </a:defRPr>
            </a:lvl7pPr>
            <a:lvl8pPr>
              <a:defRPr sz="1125" b="1">
                <a:solidFill>
                  <a:srgbClr val="665E57"/>
                </a:solidFill>
              </a:defRPr>
            </a:lvl8pPr>
            <a:lvl9pPr>
              <a:defRPr sz="1125" b="1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65E57"/>
                </a:solidFill>
              </a:defRPr>
            </a:pPr>
            <a:r>
              <a:rPr sz="1125" b="1">
                <a:solidFill>
                  <a:srgbClr val="665E57"/>
                </a:solidFill>
              </a:rPr>
              <a:t>CERÀMICA RIU SEC · APROVISIONAMENT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178E3-70C6-412C-B210-6310B3F4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23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65E57"/>
                </a:solidFill>
              </a:defRPr>
            </a:defPPr>
            <a:lvl1pPr>
              <a:defRPr sz="1125" b="0">
                <a:solidFill>
                  <a:srgbClr val="665E57"/>
                </a:solidFill>
              </a:defRPr>
            </a:lvl1pPr>
            <a:lvl2pPr>
              <a:defRPr sz="1125" b="0">
                <a:solidFill>
                  <a:srgbClr val="665E57"/>
                </a:solidFill>
              </a:defRPr>
            </a:lvl2pPr>
            <a:lvl3pPr>
              <a:defRPr sz="1125" b="0">
                <a:solidFill>
                  <a:srgbClr val="665E57"/>
                </a:solidFill>
              </a:defRPr>
            </a:lvl3pPr>
            <a:lvl4pPr>
              <a:defRPr sz="1125" b="0">
                <a:solidFill>
                  <a:srgbClr val="665E57"/>
                </a:solidFill>
              </a:defRPr>
            </a:lvl4pPr>
            <a:lvl5pPr>
              <a:defRPr sz="1125" b="0">
                <a:solidFill>
                  <a:srgbClr val="665E57"/>
                </a:solidFill>
              </a:defRPr>
            </a:lvl5pPr>
            <a:lvl6pPr>
              <a:defRPr sz="1125" b="0">
                <a:solidFill>
                  <a:srgbClr val="665E57"/>
                </a:solidFill>
              </a:defRPr>
            </a:lvl6pPr>
            <a:lvl7pPr>
              <a:defRPr sz="1125" b="0">
                <a:solidFill>
                  <a:srgbClr val="665E57"/>
                </a:solidFill>
              </a:defRPr>
            </a:lvl7pPr>
            <a:lvl8pPr>
              <a:defRPr sz="1125" b="0">
                <a:solidFill>
                  <a:srgbClr val="665E57"/>
                </a:solidFill>
              </a:defRPr>
            </a:lvl8pPr>
            <a:lvl9pPr>
              <a:defRPr sz="112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5E57"/>
                </a:solidFill>
              </a:defRPr>
            </a:pPr>
            <a:r>
              <a:rPr sz="1125" b="0">
                <a:solidFill>
                  <a:srgbClr val="665E57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DE4E2-0E68-4496-8C9C-3B883796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8FA81-E94F-4B71-A4B2-E264F9D7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25211E"/>
                </a:solidFill>
              </a:defRPr>
            </a:defPPr>
            <a:lvl1pPr>
              <a:defRPr sz="3600" b="1">
                <a:solidFill>
                  <a:srgbClr val="25211E"/>
                </a:solidFill>
              </a:defRPr>
            </a:lvl1pPr>
            <a:lvl2pPr>
              <a:defRPr sz="3600" b="1">
                <a:solidFill>
                  <a:srgbClr val="25211E"/>
                </a:solidFill>
              </a:defRPr>
            </a:lvl2pPr>
            <a:lvl3pPr>
              <a:defRPr sz="3600" b="1">
                <a:solidFill>
                  <a:srgbClr val="25211E"/>
                </a:solidFill>
              </a:defRPr>
            </a:lvl3pPr>
            <a:lvl4pPr>
              <a:defRPr sz="3600" b="1">
                <a:solidFill>
                  <a:srgbClr val="25211E"/>
                </a:solidFill>
              </a:defRPr>
            </a:lvl4pPr>
            <a:lvl5pPr>
              <a:defRPr sz="3600" b="1">
                <a:solidFill>
                  <a:srgbClr val="25211E"/>
                </a:solidFill>
              </a:defRPr>
            </a:lvl5pPr>
            <a:lvl6pPr>
              <a:defRPr sz="3600" b="1">
                <a:solidFill>
                  <a:srgbClr val="25211E"/>
                </a:solidFill>
              </a:defRPr>
            </a:lvl6pPr>
            <a:lvl7pPr>
              <a:defRPr sz="3600" b="1">
                <a:solidFill>
                  <a:srgbClr val="25211E"/>
                </a:solidFill>
              </a:defRPr>
            </a:lvl7pPr>
            <a:lvl8pPr>
              <a:defRPr sz="3600" b="1">
                <a:solidFill>
                  <a:srgbClr val="25211E"/>
                </a:solidFill>
              </a:defRPr>
            </a:lvl8pPr>
            <a:lvl9pPr>
              <a:defRPr sz="36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5211E"/>
                </a:solidFill>
              </a:defRPr>
            </a:pPr>
            <a:r>
              <a:rPr sz="3600" b="1">
                <a:solidFill>
                  <a:srgbClr val="25211E"/>
                </a:solidFill>
              </a:rPr>
              <a:t>El procés actual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44330-F148-4319-8E8C-BE5DC173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6334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665E57"/>
                </a:solidFill>
              </a:defRPr>
            </a:defPPr>
            <a:lvl1pPr>
              <a:defRPr sz="1875" b="0">
                <a:solidFill>
                  <a:srgbClr val="665E57"/>
                </a:solidFill>
              </a:defRPr>
            </a:lvl1pPr>
            <a:lvl2pPr>
              <a:defRPr sz="1875" b="0">
                <a:solidFill>
                  <a:srgbClr val="665E57"/>
                </a:solidFill>
              </a:defRPr>
            </a:lvl2pPr>
            <a:lvl3pPr>
              <a:defRPr sz="1875" b="0">
                <a:solidFill>
                  <a:srgbClr val="665E57"/>
                </a:solidFill>
              </a:defRPr>
            </a:lvl3pPr>
            <a:lvl4pPr>
              <a:defRPr sz="1875" b="0">
                <a:solidFill>
                  <a:srgbClr val="665E57"/>
                </a:solidFill>
              </a:defRPr>
            </a:lvl4pPr>
            <a:lvl5pPr>
              <a:defRPr sz="1875" b="0">
                <a:solidFill>
                  <a:srgbClr val="665E57"/>
                </a:solidFill>
              </a:defRPr>
            </a:lvl5pPr>
            <a:lvl6pPr>
              <a:defRPr sz="1875" b="0">
                <a:solidFill>
                  <a:srgbClr val="665E57"/>
                </a:solidFill>
              </a:defRPr>
            </a:lvl6pPr>
            <a:lvl7pPr>
              <a:defRPr sz="1875" b="0">
                <a:solidFill>
                  <a:srgbClr val="665E57"/>
                </a:solidFill>
              </a:defRPr>
            </a:lvl7pPr>
            <a:lvl8pPr>
              <a:defRPr sz="1875" b="0">
                <a:solidFill>
                  <a:srgbClr val="665E57"/>
                </a:solidFill>
              </a:defRPr>
            </a:lvl8pPr>
            <a:lvl9pPr>
              <a:defRPr sz="187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5E57"/>
                </a:solidFill>
              </a:defRPr>
            </a:pPr>
            <a:r>
              <a:rPr sz="1875" b="0">
                <a:solidFill>
                  <a:srgbClr val="665E57"/>
                </a:solidFill>
              </a:rPr>
              <a:t>Els registres separats dificulten coordinar la necessitat de producció, la compra i la disponibilitat del material.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03E7D-B133-4CF0-BD6D-3E14F214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193DA-A28B-4805-9930-78F0A4FA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Pla i estoc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BC844-D13F-435C-9528-06815F0D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146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Els canvis del pla i les reserves no sempre coincideixen amb les dades que usa compres.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DD1AC-665E-41A3-A0B4-3326D26D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57B68-DC9C-4E23-BFB8-0490E74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147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Autorització i oferta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4F7B6-C711-4307-A559-1C7E2100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147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La petició recorre diversos correus. La comparació d’ofertes queda dispersa.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3DA9F-908D-43E5-B3C1-21433817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78656-6733-42C0-9972-4F5E726D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148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Lliurament i recepció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DA3BE-9A18-41A9-A43D-C7A4D7DC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148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La data promesa i les diferències rebudes no es comparteixen a temps.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5867C-E619-4F1C-BAA1-220434BE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415FE-765D-4984-9EA7-A2AED052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149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Qualitat i entrada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3DBDD-8672-4E19-85B3-E12F9ED9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149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Un lot pendent pot aparentar disponible. L’estoc es registra després a mà.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B1BB0-97B8-4601-95B2-DEB99871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1FCBE-AC30-4E9E-A2EA-12919EBB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Abast: de la necessitat de matèria primera al material acceptat i registrat al magatzem.</a:t>
            </a:r>
          </a:p>
        </p:txBody>
      </p:sp>
    </p:spTree>
    <p:extLst>
      <p:ext uri="{BB962C8B-B14F-4D97-AF65-F5344CB8AC3E}">
        <p14:creationId xmlns:p14="http://schemas.microsoft.com/office/powerpoint/2010/main" val="8383476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A13595-AF33-48ED-B67F-2654BC97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74F32"/>
                </a:solidFill>
              </a:defRPr>
            </a:defPPr>
            <a:lvl1pPr>
              <a:defRPr sz="1725" b="1">
                <a:solidFill>
                  <a:srgbClr val="A74F32"/>
                </a:solidFill>
              </a:defRPr>
            </a:lvl1pPr>
            <a:lvl2pPr>
              <a:defRPr sz="1725" b="1">
                <a:solidFill>
                  <a:srgbClr val="A74F32"/>
                </a:solidFill>
              </a:defRPr>
            </a:lvl2pPr>
            <a:lvl3pPr>
              <a:defRPr sz="1725" b="1">
                <a:solidFill>
                  <a:srgbClr val="A74F32"/>
                </a:solidFill>
              </a:defRPr>
            </a:lvl3pPr>
            <a:lvl4pPr>
              <a:defRPr sz="1725" b="1">
                <a:solidFill>
                  <a:srgbClr val="A74F32"/>
                </a:solidFill>
              </a:defRPr>
            </a:lvl4pPr>
            <a:lvl5pPr>
              <a:defRPr sz="1725" b="1">
                <a:solidFill>
                  <a:srgbClr val="A74F32"/>
                </a:solidFill>
              </a:defRPr>
            </a:lvl5pPr>
            <a:lvl6pPr>
              <a:defRPr sz="1725" b="1">
                <a:solidFill>
                  <a:srgbClr val="A74F32"/>
                </a:solidFill>
              </a:defRPr>
            </a:lvl6pPr>
            <a:lvl7pPr>
              <a:defRPr sz="1725" b="1">
                <a:solidFill>
                  <a:srgbClr val="A74F32"/>
                </a:solidFill>
              </a:defRPr>
            </a:lvl7pPr>
            <a:lvl8pPr>
              <a:defRPr sz="1725" b="1">
                <a:solidFill>
                  <a:srgbClr val="A74F32"/>
                </a:solidFill>
              </a:defRPr>
            </a:lvl8pPr>
            <a:lvl9pPr>
              <a:defRPr sz="172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74F32"/>
                </a:solidFill>
              </a:defRPr>
            </a:pPr>
            <a:r>
              <a:rPr sz="1725" b="1">
                <a:solidFill>
                  <a:srgbClr val="A74F32"/>
                </a:solidFill>
              </a:rPr>
              <a:t>NEXE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E59C3-5A0C-4B21-B84A-F3C8FB09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65E57"/>
                </a:solidFill>
              </a:defRPr>
            </a:defPPr>
            <a:lvl1pPr>
              <a:defRPr sz="1125" b="1">
                <a:solidFill>
                  <a:srgbClr val="665E57"/>
                </a:solidFill>
              </a:defRPr>
            </a:lvl1pPr>
            <a:lvl2pPr>
              <a:defRPr sz="1125" b="1">
                <a:solidFill>
                  <a:srgbClr val="665E57"/>
                </a:solidFill>
              </a:defRPr>
            </a:lvl2pPr>
            <a:lvl3pPr>
              <a:defRPr sz="1125" b="1">
                <a:solidFill>
                  <a:srgbClr val="665E57"/>
                </a:solidFill>
              </a:defRPr>
            </a:lvl3pPr>
            <a:lvl4pPr>
              <a:defRPr sz="1125" b="1">
                <a:solidFill>
                  <a:srgbClr val="665E57"/>
                </a:solidFill>
              </a:defRPr>
            </a:lvl4pPr>
            <a:lvl5pPr>
              <a:defRPr sz="1125" b="1">
                <a:solidFill>
                  <a:srgbClr val="665E57"/>
                </a:solidFill>
              </a:defRPr>
            </a:lvl5pPr>
            <a:lvl6pPr>
              <a:defRPr sz="1125" b="1">
                <a:solidFill>
                  <a:srgbClr val="665E57"/>
                </a:solidFill>
              </a:defRPr>
            </a:lvl6pPr>
            <a:lvl7pPr>
              <a:defRPr sz="1125" b="1">
                <a:solidFill>
                  <a:srgbClr val="665E57"/>
                </a:solidFill>
              </a:defRPr>
            </a:lvl7pPr>
            <a:lvl8pPr>
              <a:defRPr sz="1125" b="1">
                <a:solidFill>
                  <a:srgbClr val="665E57"/>
                </a:solidFill>
              </a:defRPr>
            </a:lvl8pPr>
            <a:lvl9pPr>
              <a:defRPr sz="1125" b="1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65E57"/>
                </a:solidFill>
              </a:defRPr>
            </a:pPr>
            <a:r>
              <a:rPr sz="1125" b="1">
                <a:solidFill>
                  <a:srgbClr val="665E57"/>
                </a:solidFill>
              </a:rPr>
              <a:t>PROPOSTA DE MILLORA · TO-BE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85352-D8A7-47D4-B4CD-A6248F8B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23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65E57"/>
                </a:solidFill>
              </a:defRPr>
            </a:defPPr>
            <a:lvl1pPr>
              <a:defRPr sz="1125" b="0">
                <a:solidFill>
                  <a:srgbClr val="665E57"/>
                </a:solidFill>
              </a:defRPr>
            </a:lvl1pPr>
            <a:lvl2pPr>
              <a:defRPr sz="1125" b="0">
                <a:solidFill>
                  <a:srgbClr val="665E57"/>
                </a:solidFill>
              </a:defRPr>
            </a:lvl2pPr>
            <a:lvl3pPr>
              <a:defRPr sz="1125" b="0">
                <a:solidFill>
                  <a:srgbClr val="665E57"/>
                </a:solidFill>
              </a:defRPr>
            </a:lvl3pPr>
            <a:lvl4pPr>
              <a:defRPr sz="1125" b="0">
                <a:solidFill>
                  <a:srgbClr val="665E57"/>
                </a:solidFill>
              </a:defRPr>
            </a:lvl4pPr>
            <a:lvl5pPr>
              <a:defRPr sz="1125" b="0">
                <a:solidFill>
                  <a:srgbClr val="665E57"/>
                </a:solidFill>
              </a:defRPr>
            </a:lvl5pPr>
            <a:lvl6pPr>
              <a:defRPr sz="1125" b="0">
                <a:solidFill>
                  <a:srgbClr val="665E57"/>
                </a:solidFill>
              </a:defRPr>
            </a:lvl6pPr>
            <a:lvl7pPr>
              <a:defRPr sz="1125" b="0">
                <a:solidFill>
                  <a:srgbClr val="665E57"/>
                </a:solidFill>
              </a:defRPr>
            </a:lvl7pPr>
            <a:lvl8pPr>
              <a:defRPr sz="1125" b="0">
                <a:solidFill>
                  <a:srgbClr val="665E57"/>
                </a:solidFill>
              </a:defRPr>
            </a:lvl8pPr>
            <a:lvl9pPr>
              <a:defRPr sz="112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5E57"/>
                </a:solidFill>
              </a:defRPr>
            </a:pPr>
            <a:r>
              <a:rPr sz="1125" b="0">
                <a:solidFill>
                  <a:srgbClr val="665E57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6975E-5059-4910-9CD0-611383A5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2EB56-BF28-4C18-A5CD-A1B79D5C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450" b="1">
                <a:solidFill>
                  <a:srgbClr val="25211E"/>
                </a:solidFill>
              </a:defRPr>
            </a:defPPr>
            <a:lvl1pPr>
              <a:defRPr sz="3450" b="1">
                <a:solidFill>
                  <a:srgbClr val="25211E"/>
                </a:solidFill>
              </a:defRPr>
            </a:lvl1pPr>
            <a:lvl2pPr>
              <a:defRPr sz="3450" b="1">
                <a:solidFill>
                  <a:srgbClr val="25211E"/>
                </a:solidFill>
              </a:defRPr>
            </a:lvl2pPr>
            <a:lvl3pPr>
              <a:defRPr sz="3450" b="1">
                <a:solidFill>
                  <a:srgbClr val="25211E"/>
                </a:solidFill>
              </a:defRPr>
            </a:lvl3pPr>
            <a:lvl4pPr>
              <a:defRPr sz="3450" b="1">
                <a:solidFill>
                  <a:srgbClr val="25211E"/>
                </a:solidFill>
              </a:defRPr>
            </a:lvl4pPr>
            <a:lvl5pPr>
              <a:defRPr sz="3450" b="1">
                <a:solidFill>
                  <a:srgbClr val="25211E"/>
                </a:solidFill>
              </a:defRPr>
            </a:lvl5pPr>
            <a:lvl6pPr>
              <a:defRPr sz="3450" b="1">
                <a:solidFill>
                  <a:srgbClr val="25211E"/>
                </a:solidFill>
              </a:defRPr>
            </a:lvl6pPr>
            <a:lvl7pPr>
              <a:defRPr sz="3450" b="1">
                <a:solidFill>
                  <a:srgbClr val="25211E"/>
                </a:solidFill>
              </a:defRPr>
            </a:lvl7pPr>
            <a:lvl8pPr>
              <a:defRPr sz="3450" b="1">
                <a:solidFill>
                  <a:srgbClr val="25211E"/>
                </a:solidFill>
              </a:defRPr>
            </a:lvl8pPr>
            <a:lvl9pPr>
              <a:defRPr sz="34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5211E"/>
                </a:solidFill>
              </a:defRPr>
            </a:pPr>
            <a:r>
              <a:rPr sz="3450" b="1">
                <a:solidFill>
                  <a:srgbClr val="25211E"/>
                </a:solidFill>
              </a:rPr>
              <a:t>Millores i requisits de l’ERP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4B03D-DDA1-4C1E-AADD-7A772A19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665E57"/>
                </a:solidFill>
              </a:defRPr>
            </a:defPPr>
            <a:lvl1pPr>
              <a:defRPr sz="1650" b="0">
                <a:solidFill>
                  <a:srgbClr val="665E57"/>
                </a:solidFill>
              </a:defRPr>
            </a:lvl1pPr>
            <a:lvl2pPr>
              <a:defRPr sz="1650" b="0">
                <a:solidFill>
                  <a:srgbClr val="665E57"/>
                </a:solidFill>
              </a:defRPr>
            </a:lvl2pPr>
            <a:lvl3pPr>
              <a:defRPr sz="1650" b="0">
                <a:solidFill>
                  <a:srgbClr val="665E57"/>
                </a:solidFill>
              </a:defRPr>
            </a:lvl3pPr>
            <a:lvl4pPr>
              <a:defRPr sz="1650" b="0">
                <a:solidFill>
                  <a:srgbClr val="665E57"/>
                </a:solidFill>
              </a:defRPr>
            </a:lvl4pPr>
            <a:lvl5pPr>
              <a:defRPr sz="1650" b="0">
                <a:solidFill>
                  <a:srgbClr val="665E57"/>
                </a:solidFill>
              </a:defRPr>
            </a:lvl5pPr>
            <a:lvl6pPr>
              <a:defRPr sz="1650" b="0">
                <a:solidFill>
                  <a:srgbClr val="665E57"/>
                </a:solidFill>
              </a:defRPr>
            </a:lvl6pPr>
            <a:lvl7pPr>
              <a:defRPr sz="1650" b="0">
                <a:solidFill>
                  <a:srgbClr val="665E57"/>
                </a:solidFill>
              </a:defRPr>
            </a:lvl7pPr>
            <a:lvl8pPr>
              <a:defRPr sz="1650" b="0">
                <a:solidFill>
                  <a:srgbClr val="665E57"/>
                </a:solidFill>
              </a:defRPr>
            </a:lvl8pPr>
            <a:lvl9pPr>
              <a:defRPr sz="16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5E57"/>
                </a:solidFill>
              </a:defRPr>
            </a:pPr>
            <a:r>
              <a:rPr sz="1650" b="0">
                <a:solidFill>
                  <a:srgbClr val="665E57"/>
                </a:solidFill>
              </a:rPr>
              <a:t>Proposta pendent de validació. Les decisions de compra i qualitat són humanes.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6CAE4-A0C8-4ECF-B9E5-C3B2719B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19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MILLORES DEL PROCÉS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D3DEA-E1B5-4FD6-BAAF-20A057E2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33650"/>
            <a:ext cx="500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REQUISITS FUNCIONALS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FAA9B-462B-4D5C-B59B-DC4353EC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5F844-DBAC-4BEF-BF25-EA47B5A8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Pla, estoc i reposició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2B4BE-F2E7-4311-B0BA-0D780997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Reposició planificada proposada. Estoc utilitzable i reserves sense duplicar.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87E90-14F3-4FD7-B12D-34FCEA86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0939A-F30D-46BB-9E9B-A35F7B67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Compra traçable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33D89E-3933-4AFE-8317-85FD0C5D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8622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Petició revisable, oferta adequada i control del saldo substituït.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9AE03-EDFF-44F9-BF98-71A3121B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F4643-9A58-4513-9854-A9565B9C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Risc per a producció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1566E-EDCF-402B-AB64-A4FC746E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Retards i lots bloquejats vinculats a les ordres afectades.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69473-7941-4F8F-BA73-02B6D7D1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F7CA2-F2EE-4BB0-B16D-F770DBE7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Recepció i qualitat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DB94B-D121-4BDC-A91A-EB218C6C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6737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Confirmar quantitat i ubicació abans d’actualitzar les existències.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7B6A5B-515A-4A5F-8AD2-A38EFC80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43225"/>
            <a:ext cx="498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HU-01  Necessitats i versions del pla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41C55-7D0E-4412-9993-326AECE7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28975"/>
            <a:ext cx="498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HU-02  Disponibilitat i reposició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0261D1-0C67-4132-9E21-DFC93886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14725"/>
            <a:ext cx="498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HU-03  Aprovacions, correccions i rebutjos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F35E2B-DC44-4E87-B396-B8CDECB3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800475"/>
            <a:ext cx="498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HU-04  Selecció d’una oferta adequada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DB615-4463-4C67-8D03-B972A85F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86225"/>
            <a:ext cx="498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HU-05  Ordres afectades per retard o lot bloquejat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6BBA9-3AE7-4639-A3D5-AA6D47B5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371975"/>
            <a:ext cx="498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HU-06  Recepcions parcials i incidències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06F65-BEA1-4E9D-9818-CD1D8406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57725"/>
            <a:ext cx="498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HU-07  Fitxa de qualitat i resultats de la mostra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4BA7F-005E-4881-9037-190D36B2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943475"/>
            <a:ext cx="498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HU-08  Ubicació, estoc i avís a producció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A28772-D09B-4C3A-858D-4139265D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229225"/>
            <a:ext cx="498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HU-09  Reserva del material utilitzable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3A2DFD-88AF-4623-A72E-3F719278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514975"/>
            <a:ext cx="498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HU-10  Emissió de la comanda autoritzada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FFDA4D-B73D-4DD7-B4AF-95DC0BFD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800725"/>
            <a:ext cx="498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HU-11  Resposta al retard i substitució de proveïdor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292D8D-EC55-42AF-A680-BBD41C0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FE5BED-B192-4A98-9244-F06D1548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Particularitats a verificar: HU-05 i HU-07. Models i criteris de comprovació a la web.</a:t>
            </a:r>
          </a:p>
        </p:txBody>
      </p:sp>
    </p:spTree>
    <p:extLst>
      <p:ext uri="{BB962C8B-B14F-4D97-AF65-F5344CB8AC3E}">
        <p14:creationId xmlns:p14="http://schemas.microsoft.com/office/powerpoint/2010/main" val="12359338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2026-10-29T15:56:17.4790000Z</dcterms:created>
  <dcterms:modified xsi:type="dcterms:W3CDTF">2026-10-29T15:56:17.4790000Z</dcterms:modified>
</coreProperties>
</file>