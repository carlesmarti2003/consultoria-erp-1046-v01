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a1a50a3c8d4654" /><Relationship Type="http://schemas.openxmlformats.org/officeDocument/2006/relationships/extended-properties" Target="/docProps/app.xml" Id="R0fdfdf7ea9f849f8" /><Relationship Type="http://schemas.openxmlformats.org/officeDocument/2006/relationships/officeDocument" Target="/ppt/presentation.xml" Id="R215171e4097341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26163f8e5f490f"/>
  </p:sldMasterIdLst>
  <p:notesMasterIdLst>
    <p:notesMasterId xmlns:r="http://schemas.openxmlformats.org/officeDocument/2006/relationships" r:id="Rf313c3efc2554dd3"/>
  </p:notesMasterIdLst>
  <p:sldIdLst>
    <p:sldId xmlns:r="http://schemas.openxmlformats.org/officeDocument/2006/relationships" id="256" r:id="R6bf373496ae949d9"/>
    <p:sldId xmlns:r="http://schemas.openxmlformats.org/officeDocument/2006/relationships" id="257" r:id="R7f11c3b8caa742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882b129cf142c4" /><Relationship Type="http://schemas.openxmlformats.org/officeDocument/2006/relationships/slideMaster" Target="/ppt/slideMasters/slideMaster1.xml" Id="R3126163f8e5f490f" /><Relationship Type="http://schemas.openxmlformats.org/officeDocument/2006/relationships/notesMaster" Target="/ppt/notesMasters/notesMaster1.xml" Id="Rf313c3efc2554dd3" /><Relationship Type="http://schemas.openxmlformats.org/officeDocument/2006/relationships/presProps" Target="/ppt/presProps.xml" Id="R55c9fdd9b90e400c" /><Relationship Type="http://schemas.openxmlformats.org/officeDocument/2006/relationships/tableStyles" Target="/ppt/tableStyles.xml" Id="Rccaf259e506d4b0d" /><Relationship Type="http://schemas.openxmlformats.org/officeDocument/2006/relationships/slide" Target="/ppt/slides/slide1.xml" Id="R6bf373496ae949d9" /><Relationship Type="http://schemas.openxmlformats.org/officeDocument/2006/relationships/slide" Target="/ppt/slides/slide2.xml" Id="R7f11c3b8caa742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81567ec83348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a0e29ce1d14f7d" /><Relationship Type="http://schemas.openxmlformats.org/officeDocument/2006/relationships/notesMaster" Target="/ppt/notesMasters/notesMaster1.xml" Id="R18e2604e14de4e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ac186552a246fc" /><Relationship Type="http://schemas.openxmlformats.org/officeDocument/2006/relationships/notesMaster" Target="/ppt/notesMasters/notesMaster1.xml" Id="Rc021505fc16642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0b16bbbfe43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a189680ba4f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a3c373aed41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100eb5f3a49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479035ae244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f6120f7cf4a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817E39-B67D-49C6-A13E-22805F55B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25AFCE-6BD5-4917-881C-0E9DF2C04D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CEDE33-0FC5-45BF-8B77-335F36584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2CD607-092B-4AAE-BA8C-01233CB5A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C4D942-382C-4FA7-81E9-1E52E9B743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03E249-CCEF-4AAC-A350-A3B5EDF625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1C3CC6-42E6-4EB3-993A-E909188E57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DEA4A2-B5E7-49EB-8BB2-1AED0BE124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6AEED2-F2C5-4278-8709-A6608A16E6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855553-F958-4DFD-99A9-E0F18E6111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835eb9007a4c18" /><Relationship Type="http://schemas.openxmlformats.org/officeDocument/2006/relationships/slideLayout" Target="/ppt/slideLayouts/slideLayout1.xml" Id="Rd7af409d45e346b0" /><Relationship Type="http://schemas.openxmlformats.org/officeDocument/2006/relationships/slideLayout" Target="/ppt/slideLayouts/slideLayout2.xml" Id="R4f72dae167f74b78" /><Relationship Type="http://schemas.openxmlformats.org/officeDocument/2006/relationships/slideLayout" Target="/ppt/slideLayouts/slideLayout3.xml" Id="R282bc333230848c6" /><Relationship Type="http://schemas.openxmlformats.org/officeDocument/2006/relationships/slideLayout" Target="/ppt/slideLayouts/slideLayout4.xml" Id="R0d0a9c8d28404b03" /><Relationship Type="http://schemas.openxmlformats.org/officeDocument/2006/relationships/slideLayout" Target="/ppt/slideLayouts/slideLayout5.xml" Id="R1c8e09b98fe44430" /><Relationship Type="http://schemas.openxmlformats.org/officeDocument/2006/relationships/slideLayout" Target="/ppt/slideLayouts/slideLayout6.xml" Id="R25075dd868204c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af409d45e346b0"/>
    <p:sldLayoutId xmlns:r="http://schemas.openxmlformats.org/officeDocument/2006/relationships" id="2147483650" r:id="R4f72dae167f74b78"/>
    <p:sldLayoutId xmlns:r="http://schemas.openxmlformats.org/officeDocument/2006/relationships" id="2147483651" r:id="R282bc333230848c6"/>
    <p:sldLayoutId xmlns:r="http://schemas.openxmlformats.org/officeDocument/2006/relationships" id="2147483652" r:id="R0d0a9c8d28404b03"/>
    <p:sldLayoutId xmlns:r="http://schemas.openxmlformats.org/officeDocument/2006/relationships" id="2147483653" r:id="R1c8e09b98fe44430"/>
    <p:sldLayoutId xmlns:r="http://schemas.openxmlformats.org/officeDocument/2006/relationships" id="2147483654" r:id="R25075dd868204c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f47a054a44bc2" /><Relationship Type="http://schemas.openxmlformats.org/officeDocument/2006/relationships/notesSlide" Target="/ppt/notesSlides/notesSlide1.xml" Id="R493776c9d6054c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c51002f024a41" /><Relationship Type="http://schemas.openxmlformats.org/officeDocument/2006/relationships/notesSlide" Target="/ppt/notesSlides/notesSlide2.xml" Id="R12864818ea9e46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2FF60-3C83-444C-9F4E-03980B7F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74F32"/>
                </a:solidFill>
              </a:defRPr>
            </a:defPPr>
            <a:lvl1pPr>
              <a:defRPr sz="1725" b="1">
                <a:solidFill>
                  <a:srgbClr val="A74F32"/>
                </a:solidFill>
              </a:defRPr>
            </a:lvl1pPr>
            <a:lvl2pPr>
              <a:defRPr sz="1725" b="1">
                <a:solidFill>
                  <a:srgbClr val="A74F32"/>
                </a:solidFill>
              </a:defRPr>
            </a:lvl2pPr>
            <a:lvl3pPr>
              <a:defRPr sz="1725" b="1">
                <a:solidFill>
                  <a:srgbClr val="A74F32"/>
                </a:solidFill>
              </a:defRPr>
            </a:lvl3pPr>
            <a:lvl4pPr>
              <a:defRPr sz="1725" b="1">
                <a:solidFill>
                  <a:srgbClr val="A74F32"/>
                </a:solidFill>
              </a:defRPr>
            </a:lvl4pPr>
            <a:lvl5pPr>
              <a:defRPr sz="1725" b="1">
                <a:solidFill>
                  <a:srgbClr val="A74F32"/>
                </a:solidFill>
              </a:defRPr>
            </a:lvl5pPr>
            <a:lvl6pPr>
              <a:defRPr sz="1725" b="1">
                <a:solidFill>
                  <a:srgbClr val="A74F32"/>
                </a:solidFill>
              </a:defRPr>
            </a:lvl6pPr>
            <a:lvl7pPr>
              <a:defRPr sz="1725" b="1">
                <a:solidFill>
                  <a:srgbClr val="A74F32"/>
                </a:solidFill>
              </a:defRPr>
            </a:lvl7pPr>
            <a:lvl8pPr>
              <a:defRPr sz="1725" b="1">
                <a:solidFill>
                  <a:srgbClr val="A74F32"/>
                </a:solidFill>
              </a:defRPr>
            </a:lvl8pPr>
            <a:lvl9pPr>
              <a:defRPr sz="172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74F32"/>
                </a:solidFill>
              </a:defRPr>
            </a:pPr>
            <a:r>
              <a:rPr sz="1725" b="1">
                <a:solidFill>
                  <a:srgbClr val="A74F32"/>
                </a:solidFill>
              </a:rPr>
              <a:t>NEXE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3B52E-E356-4F03-B32F-63069B6C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65E57"/>
                </a:solidFill>
              </a:defRPr>
            </a:defPPr>
            <a:lvl1pPr>
              <a:defRPr sz="1125" b="1">
                <a:solidFill>
                  <a:srgbClr val="665E57"/>
                </a:solidFill>
              </a:defRPr>
            </a:lvl1pPr>
            <a:lvl2pPr>
              <a:defRPr sz="1125" b="1">
                <a:solidFill>
                  <a:srgbClr val="665E57"/>
                </a:solidFill>
              </a:defRPr>
            </a:lvl2pPr>
            <a:lvl3pPr>
              <a:defRPr sz="1125" b="1">
                <a:solidFill>
                  <a:srgbClr val="665E57"/>
                </a:solidFill>
              </a:defRPr>
            </a:lvl3pPr>
            <a:lvl4pPr>
              <a:defRPr sz="1125" b="1">
                <a:solidFill>
                  <a:srgbClr val="665E57"/>
                </a:solidFill>
              </a:defRPr>
            </a:lvl4pPr>
            <a:lvl5pPr>
              <a:defRPr sz="1125" b="1">
                <a:solidFill>
                  <a:srgbClr val="665E57"/>
                </a:solidFill>
              </a:defRPr>
            </a:lvl5pPr>
            <a:lvl6pPr>
              <a:defRPr sz="1125" b="1">
                <a:solidFill>
                  <a:srgbClr val="665E57"/>
                </a:solidFill>
              </a:defRPr>
            </a:lvl6pPr>
            <a:lvl7pPr>
              <a:defRPr sz="1125" b="1">
                <a:solidFill>
                  <a:srgbClr val="665E57"/>
                </a:solidFill>
              </a:defRPr>
            </a:lvl7pPr>
            <a:lvl8pPr>
              <a:defRPr sz="1125" b="1">
                <a:solidFill>
                  <a:srgbClr val="665E57"/>
                </a:solidFill>
              </a:defRPr>
            </a:lvl8pPr>
            <a:lvl9pPr>
              <a:defRPr sz="1125" b="1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65E57"/>
                </a:solidFill>
              </a:defRPr>
            </a:pPr>
            <a:r>
              <a:rPr sz="1125" b="1">
                <a:solidFill>
                  <a:srgbClr val="665E57"/>
                </a:solidFill>
              </a:rPr>
              <a:t>CERÀMICA RIU SEC · APROVISIONAMENT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E2358-D562-4BC2-975D-5BD1F865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23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65E57"/>
                </a:solidFill>
              </a:defRPr>
            </a:defPPr>
            <a:lvl1pPr>
              <a:defRPr sz="1125" b="0">
                <a:solidFill>
                  <a:srgbClr val="665E57"/>
                </a:solidFill>
              </a:defRPr>
            </a:lvl1pPr>
            <a:lvl2pPr>
              <a:defRPr sz="1125" b="0">
                <a:solidFill>
                  <a:srgbClr val="665E57"/>
                </a:solidFill>
              </a:defRPr>
            </a:lvl2pPr>
            <a:lvl3pPr>
              <a:defRPr sz="1125" b="0">
                <a:solidFill>
                  <a:srgbClr val="665E57"/>
                </a:solidFill>
              </a:defRPr>
            </a:lvl3pPr>
            <a:lvl4pPr>
              <a:defRPr sz="1125" b="0">
                <a:solidFill>
                  <a:srgbClr val="665E57"/>
                </a:solidFill>
              </a:defRPr>
            </a:lvl4pPr>
            <a:lvl5pPr>
              <a:defRPr sz="1125" b="0">
                <a:solidFill>
                  <a:srgbClr val="665E57"/>
                </a:solidFill>
              </a:defRPr>
            </a:lvl5pPr>
            <a:lvl6pPr>
              <a:defRPr sz="1125" b="0">
                <a:solidFill>
                  <a:srgbClr val="665E57"/>
                </a:solidFill>
              </a:defRPr>
            </a:lvl6pPr>
            <a:lvl7pPr>
              <a:defRPr sz="1125" b="0">
                <a:solidFill>
                  <a:srgbClr val="665E57"/>
                </a:solidFill>
              </a:defRPr>
            </a:lvl7pPr>
            <a:lvl8pPr>
              <a:defRPr sz="1125" b="0">
                <a:solidFill>
                  <a:srgbClr val="665E57"/>
                </a:solidFill>
              </a:defRPr>
            </a:lvl8pPr>
            <a:lvl9pPr>
              <a:defRPr sz="112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5E57"/>
                </a:solidFill>
              </a:defRPr>
            </a:pPr>
            <a:r>
              <a:rPr sz="1125" b="0">
                <a:solidFill>
                  <a:srgbClr val="665E57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1AC87-A62F-493D-A3ED-D0C59273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9B907-515A-430D-8576-BA5A9578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25211E"/>
                </a:solidFill>
              </a:defRPr>
            </a:defPPr>
            <a:lvl1pPr>
              <a:defRPr sz="3600" b="1">
                <a:solidFill>
                  <a:srgbClr val="25211E"/>
                </a:solidFill>
              </a:defRPr>
            </a:lvl1pPr>
            <a:lvl2pPr>
              <a:defRPr sz="3600" b="1">
                <a:solidFill>
                  <a:srgbClr val="25211E"/>
                </a:solidFill>
              </a:defRPr>
            </a:lvl2pPr>
            <a:lvl3pPr>
              <a:defRPr sz="3600" b="1">
                <a:solidFill>
                  <a:srgbClr val="25211E"/>
                </a:solidFill>
              </a:defRPr>
            </a:lvl3pPr>
            <a:lvl4pPr>
              <a:defRPr sz="3600" b="1">
                <a:solidFill>
                  <a:srgbClr val="25211E"/>
                </a:solidFill>
              </a:defRPr>
            </a:lvl4pPr>
            <a:lvl5pPr>
              <a:defRPr sz="3600" b="1">
                <a:solidFill>
                  <a:srgbClr val="25211E"/>
                </a:solidFill>
              </a:defRPr>
            </a:lvl5pPr>
            <a:lvl6pPr>
              <a:defRPr sz="3600" b="1">
                <a:solidFill>
                  <a:srgbClr val="25211E"/>
                </a:solidFill>
              </a:defRPr>
            </a:lvl6pPr>
            <a:lvl7pPr>
              <a:defRPr sz="3600" b="1">
                <a:solidFill>
                  <a:srgbClr val="25211E"/>
                </a:solidFill>
              </a:defRPr>
            </a:lvl7pPr>
            <a:lvl8pPr>
              <a:defRPr sz="3600" b="1">
                <a:solidFill>
                  <a:srgbClr val="25211E"/>
                </a:solidFill>
              </a:defRPr>
            </a:lvl8pPr>
            <a:lvl9pPr>
              <a:defRPr sz="36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5211E"/>
                </a:solidFill>
              </a:defRPr>
            </a:pPr>
            <a:r>
              <a:rPr sz="3600" b="1">
                <a:solidFill>
                  <a:srgbClr val="25211E"/>
                </a:solidFill>
              </a:rPr>
              <a:t>El procés actual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4F0CF-488E-4449-A029-27C59237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6334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665E57"/>
                </a:solidFill>
              </a:defRPr>
            </a:defPPr>
            <a:lvl1pPr>
              <a:defRPr sz="1875" b="0">
                <a:solidFill>
                  <a:srgbClr val="665E57"/>
                </a:solidFill>
              </a:defRPr>
            </a:lvl1pPr>
            <a:lvl2pPr>
              <a:defRPr sz="1875" b="0">
                <a:solidFill>
                  <a:srgbClr val="665E57"/>
                </a:solidFill>
              </a:defRPr>
            </a:lvl2pPr>
            <a:lvl3pPr>
              <a:defRPr sz="1875" b="0">
                <a:solidFill>
                  <a:srgbClr val="665E57"/>
                </a:solidFill>
              </a:defRPr>
            </a:lvl3pPr>
            <a:lvl4pPr>
              <a:defRPr sz="1875" b="0">
                <a:solidFill>
                  <a:srgbClr val="665E57"/>
                </a:solidFill>
              </a:defRPr>
            </a:lvl4pPr>
            <a:lvl5pPr>
              <a:defRPr sz="1875" b="0">
                <a:solidFill>
                  <a:srgbClr val="665E57"/>
                </a:solidFill>
              </a:defRPr>
            </a:lvl5pPr>
            <a:lvl6pPr>
              <a:defRPr sz="1875" b="0">
                <a:solidFill>
                  <a:srgbClr val="665E57"/>
                </a:solidFill>
              </a:defRPr>
            </a:lvl6pPr>
            <a:lvl7pPr>
              <a:defRPr sz="1875" b="0">
                <a:solidFill>
                  <a:srgbClr val="665E57"/>
                </a:solidFill>
              </a:defRPr>
            </a:lvl7pPr>
            <a:lvl8pPr>
              <a:defRPr sz="1875" b="0">
                <a:solidFill>
                  <a:srgbClr val="665E57"/>
                </a:solidFill>
              </a:defRPr>
            </a:lvl8pPr>
            <a:lvl9pPr>
              <a:defRPr sz="187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5E57"/>
                </a:solidFill>
              </a:defRPr>
            </a:pPr>
            <a:r>
              <a:rPr sz="1875" b="0">
                <a:solidFill>
                  <a:srgbClr val="665E57"/>
                </a:solidFill>
              </a:rPr>
              <a:t>La informació passa per correus i fulls separats. Cada retard arriba a producció quan ja costa reaccionar.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45275-844F-45DB-B082-F0B6251C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9454C-F553-4D0E-AF0A-C2992E7C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Pla i estoc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4514C-EEBC-4D05-B056-A5885D95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Els canvis del pla i les reserves no sempre coincideixen amb les dades que usa compres.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88C13-8C51-4E7C-8CC1-DD6FD5CA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4BD7B-AC89-49EA-9609-8FF54774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147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Autorització i oferta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4FDFC-97D6-4D6B-91CC-8865E64A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147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La petició recorre diversos correus. La comparació d’ofertes queda dispersa.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ED9BF-19D1-4D56-A6B0-CF95C919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0D4C4-2D82-434F-B76A-82FC7070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148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Lliurament i recepció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5CD69-2480-47FA-8EEC-84665364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148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La data promesa i les diferències rebudes no es comparteixen a temps.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4DC67-5520-4905-9ECB-EC1834DA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BDEBE-D92F-4B72-82FF-98FF5E83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149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Qualitat i entrada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F2F27-3029-44FF-B66C-DFF5DE36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149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Un lot pendent pot aparentar disponible; l’estoc es registra després a mà.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86342-0C9F-4068-9A7F-0B161B9E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07113-D465-47F2-A334-1102AE80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Abast: del pla de fabricació fins a l’estoc acceptat i comunicat a producció.</a:t>
            </a:r>
          </a:p>
        </p:txBody>
      </p:sp>
    </p:spTree>
    <p:extLst>
      <p:ext uri="{BB962C8B-B14F-4D97-AF65-F5344CB8AC3E}">
        <p14:creationId xmlns:p14="http://schemas.microsoft.com/office/powerpoint/2010/main" val="1546399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5646CC-B0B4-4A5E-A9CD-5B8C4107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74F32"/>
                </a:solidFill>
              </a:defRPr>
            </a:defPPr>
            <a:lvl1pPr>
              <a:defRPr sz="1725" b="1">
                <a:solidFill>
                  <a:srgbClr val="A74F32"/>
                </a:solidFill>
              </a:defRPr>
            </a:lvl1pPr>
            <a:lvl2pPr>
              <a:defRPr sz="1725" b="1">
                <a:solidFill>
                  <a:srgbClr val="A74F32"/>
                </a:solidFill>
              </a:defRPr>
            </a:lvl2pPr>
            <a:lvl3pPr>
              <a:defRPr sz="1725" b="1">
                <a:solidFill>
                  <a:srgbClr val="A74F32"/>
                </a:solidFill>
              </a:defRPr>
            </a:lvl3pPr>
            <a:lvl4pPr>
              <a:defRPr sz="1725" b="1">
                <a:solidFill>
                  <a:srgbClr val="A74F32"/>
                </a:solidFill>
              </a:defRPr>
            </a:lvl4pPr>
            <a:lvl5pPr>
              <a:defRPr sz="1725" b="1">
                <a:solidFill>
                  <a:srgbClr val="A74F32"/>
                </a:solidFill>
              </a:defRPr>
            </a:lvl5pPr>
            <a:lvl6pPr>
              <a:defRPr sz="1725" b="1">
                <a:solidFill>
                  <a:srgbClr val="A74F32"/>
                </a:solidFill>
              </a:defRPr>
            </a:lvl6pPr>
            <a:lvl7pPr>
              <a:defRPr sz="1725" b="1">
                <a:solidFill>
                  <a:srgbClr val="A74F32"/>
                </a:solidFill>
              </a:defRPr>
            </a:lvl7pPr>
            <a:lvl8pPr>
              <a:defRPr sz="1725" b="1">
                <a:solidFill>
                  <a:srgbClr val="A74F32"/>
                </a:solidFill>
              </a:defRPr>
            </a:lvl8pPr>
            <a:lvl9pPr>
              <a:defRPr sz="172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74F32"/>
                </a:solidFill>
              </a:defRPr>
            </a:pPr>
            <a:r>
              <a:rPr sz="1725" b="1">
                <a:solidFill>
                  <a:srgbClr val="A74F32"/>
                </a:solidFill>
              </a:rPr>
              <a:t>NEXE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DE024-837F-4AE9-8052-BE4FDAE9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65E57"/>
                </a:solidFill>
              </a:defRPr>
            </a:defPPr>
            <a:lvl1pPr>
              <a:defRPr sz="1125" b="1">
                <a:solidFill>
                  <a:srgbClr val="665E57"/>
                </a:solidFill>
              </a:defRPr>
            </a:lvl1pPr>
            <a:lvl2pPr>
              <a:defRPr sz="1125" b="1">
                <a:solidFill>
                  <a:srgbClr val="665E57"/>
                </a:solidFill>
              </a:defRPr>
            </a:lvl2pPr>
            <a:lvl3pPr>
              <a:defRPr sz="1125" b="1">
                <a:solidFill>
                  <a:srgbClr val="665E57"/>
                </a:solidFill>
              </a:defRPr>
            </a:lvl3pPr>
            <a:lvl4pPr>
              <a:defRPr sz="1125" b="1">
                <a:solidFill>
                  <a:srgbClr val="665E57"/>
                </a:solidFill>
              </a:defRPr>
            </a:lvl4pPr>
            <a:lvl5pPr>
              <a:defRPr sz="1125" b="1">
                <a:solidFill>
                  <a:srgbClr val="665E57"/>
                </a:solidFill>
              </a:defRPr>
            </a:lvl5pPr>
            <a:lvl6pPr>
              <a:defRPr sz="1125" b="1">
                <a:solidFill>
                  <a:srgbClr val="665E57"/>
                </a:solidFill>
              </a:defRPr>
            </a:lvl6pPr>
            <a:lvl7pPr>
              <a:defRPr sz="1125" b="1">
                <a:solidFill>
                  <a:srgbClr val="665E57"/>
                </a:solidFill>
              </a:defRPr>
            </a:lvl7pPr>
            <a:lvl8pPr>
              <a:defRPr sz="1125" b="1">
                <a:solidFill>
                  <a:srgbClr val="665E57"/>
                </a:solidFill>
              </a:defRPr>
            </a:lvl8pPr>
            <a:lvl9pPr>
              <a:defRPr sz="1125" b="1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65E57"/>
                </a:solidFill>
              </a:defRPr>
            </a:pPr>
            <a:r>
              <a:rPr sz="1125" b="1">
                <a:solidFill>
                  <a:srgbClr val="665E57"/>
                </a:solidFill>
              </a:rPr>
              <a:t>PROPOSTA DE MILLORA · TO-BE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D8A42-4226-4265-9972-C44BB147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23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65E57"/>
                </a:solidFill>
              </a:defRPr>
            </a:defPPr>
            <a:lvl1pPr>
              <a:defRPr sz="1125" b="0">
                <a:solidFill>
                  <a:srgbClr val="665E57"/>
                </a:solidFill>
              </a:defRPr>
            </a:lvl1pPr>
            <a:lvl2pPr>
              <a:defRPr sz="1125" b="0">
                <a:solidFill>
                  <a:srgbClr val="665E57"/>
                </a:solidFill>
              </a:defRPr>
            </a:lvl2pPr>
            <a:lvl3pPr>
              <a:defRPr sz="1125" b="0">
                <a:solidFill>
                  <a:srgbClr val="665E57"/>
                </a:solidFill>
              </a:defRPr>
            </a:lvl3pPr>
            <a:lvl4pPr>
              <a:defRPr sz="1125" b="0">
                <a:solidFill>
                  <a:srgbClr val="665E57"/>
                </a:solidFill>
              </a:defRPr>
            </a:lvl4pPr>
            <a:lvl5pPr>
              <a:defRPr sz="1125" b="0">
                <a:solidFill>
                  <a:srgbClr val="665E57"/>
                </a:solidFill>
              </a:defRPr>
            </a:lvl5pPr>
            <a:lvl6pPr>
              <a:defRPr sz="1125" b="0">
                <a:solidFill>
                  <a:srgbClr val="665E57"/>
                </a:solidFill>
              </a:defRPr>
            </a:lvl6pPr>
            <a:lvl7pPr>
              <a:defRPr sz="1125" b="0">
                <a:solidFill>
                  <a:srgbClr val="665E57"/>
                </a:solidFill>
              </a:defRPr>
            </a:lvl7pPr>
            <a:lvl8pPr>
              <a:defRPr sz="1125" b="0">
                <a:solidFill>
                  <a:srgbClr val="665E57"/>
                </a:solidFill>
              </a:defRPr>
            </a:lvl8pPr>
            <a:lvl9pPr>
              <a:defRPr sz="112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5E57"/>
                </a:solidFill>
              </a:defRPr>
            </a:pPr>
            <a:r>
              <a:rPr sz="1125" b="0">
                <a:solidFill>
                  <a:srgbClr val="665E5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C1E0C-2B6E-4EAE-BD57-8ACF8157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D6A48-5D46-4659-AE7F-8B354BE6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450" b="1">
                <a:solidFill>
                  <a:srgbClr val="25211E"/>
                </a:solidFill>
              </a:defRPr>
            </a:defPPr>
            <a:lvl1pPr>
              <a:defRPr sz="3450" b="1">
                <a:solidFill>
                  <a:srgbClr val="25211E"/>
                </a:solidFill>
              </a:defRPr>
            </a:lvl1pPr>
            <a:lvl2pPr>
              <a:defRPr sz="3450" b="1">
                <a:solidFill>
                  <a:srgbClr val="25211E"/>
                </a:solidFill>
              </a:defRPr>
            </a:lvl2pPr>
            <a:lvl3pPr>
              <a:defRPr sz="3450" b="1">
                <a:solidFill>
                  <a:srgbClr val="25211E"/>
                </a:solidFill>
              </a:defRPr>
            </a:lvl3pPr>
            <a:lvl4pPr>
              <a:defRPr sz="3450" b="1">
                <a:solidFill>
                  <a:srgbClr val="25211E"/>
                </a:solidFill>
              </a:defRPr>
            </a:lvl4pPr>
            <a:lvl5pPr>
              <a:defRPr sz="3450" b="1">
                <a:solidFill>
                  <a:srgbClr val="25211E"/>
                </a:solidFill>
              </a:defRPr>
            </a:lvl5pPr>
            <a:lvl6pPr>
              <a:defRPr sz="3450" b="1">
                <a:solidFill>
                  <a:srgbClr val="25211E"/>
                </a:solidFill>
              </a:defRPr>
            </a:lvl6pPr>
            <a:lvl7pPr>
              <a:defRPr sz="3450" b="1">
                <a:solidFill>
                  <a:srgbClr val="25211E"/>
                </a:solidFill>
              </a:defRPr>
            </a:lvl7pPr>
            <a:lvl8pPr>
              <a:defRPr sz="3450" b="1">
                <a:solidFill>
                  <a:srgbClr val="25211E"/>
                </a:solidFill>
              </a:defRPr>
            </a:lvl8pPr>
            <a:lvl9pPr>
              <a:defRPr sz="34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5211E"/>
                </a:solidFill>
              </a:defRPr>
            </a:pPr>
            <a:r>
              <a:rPr sz="3450" b="1">
                <a:solidFill>
                  <a:srgbClr val="25211E"/>
                </a:solidFill>
              </a:rPr>
              <a:t>Millores i requisits de l’ERP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A3A97-83EE-4652-9036-F931525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665E57"/>
                </a:solidFill>
              </a:defRPr>
            </a:defPPr>
            <a:lvl1pPr>
              <a:defRPr sz="1650" b="0">
                <a:solidFill>
                  <a:srgbClr val="665E57"/>
                </a:solidFill>
              </a:defRPr>
            </a:lvl1pPr>
            <a:lvl2pPr>
              <a:defRPr sz="1650" b="0">
                <a:solidFill>
                  <a:srgbClr val="665E57"/>
                </a:solidFill>
              </a:defRPr>
            </a:lvl2pPr>
            <a:lvl3pPr>
              <a:defRPr sz="1650" b="0">
                <a:solidFill>
                  <a:srgbClr val="665E57"/>
                </a:solidFill>
              </a:defRPr>
            </a:lvl3pPr>
            <a:lvl4pPr>
              <a:defRPr sz="1650" b="0">
                <a:solidFill>
                  <a:srgbClr val="665E57"/>
                </a:solidFill>
              </a:defRPr>
            </a:lvl4pPr>
            <a:lvl5pPr>
              <a:defRPr sz="1650" b="0">
                <a:solidFill>
                  <a:srgbClr val="665E57"/>
                </a:solidFill>
              </a:defRPr>
            </a:lvl5pPr>
            <a:lvl6pPr>
              <a:defRPr sz="1650" b="0">
                <a:solidFill>
                  <a:srgbClr val="665E57"/>
                </a:solidFill>
              </a:defRPr>
            </a:lvl6pPr>
            <a:lvl7pPr>
              <a:defRPr sz="1650" b="0">
                <a:solidFill>
                  <a:srgbClr val="665E57"/>
                </a:solidFill>
              </a:defRPr>
            </a:lvl7pPr>
            <a:lvl8pPr>
              <a:defRPr sz="1650" b="0">
                <a:solidFill>
                  <a:srgbClr val="665E57"/>
                </a:solidFill>
              </a:defRPr>
            </a:lvl8pPr>
            <a:lvl9pPr>
              <a:defRPr sz="16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5E57"/>
                </a:solidFill>
              </a:defRPr>
            </a:pPr>
            <a:r>
              <a:rPr sz="1650" b="0">
                <a:solidFill>
                  <a:srgbClr val="665E57"/>
                </a:solidFill>
              </a:rPr>
              <a:t>Les decisions de compra i qualitat continuen en mans de les persones.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7D00D-A444-415C-8C39-F762DB70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19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MILLORES DEL PROCÉS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5A209-5D95-4843-A473-4D23E18F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33650"/>
            <a:ext cx="500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REQUISITS FUNCIONALS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1E221-46CD-4E47-A9E3-30FD5524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43A8D-0E71-4AF4-A156-FBC4FCF6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Pla i estoc compartits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E096D-388A-4763-A717-FBEF6BE4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Versió del pla i disponibilitat real, amb reserves i lots bloquejats.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3999B-D51A-4D4E-97DF-7F6155E8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AFA20-D5A7-4ED6-AB09-9C139613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Compra traçable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7FA91-E31F-4F07-974F-9D84E8C1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622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Aprovació amb responsable i selecció amb criteris comuns.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71270-D730-497B-B639-A59D41F2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91C88-A03B-4794-878A-0CCC350E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Risc de retard visible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ABE12-034E-44A6-A170-305942AE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La data confirmada s’encreua amb la necessitat de producció.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FF5F6-B91F-4949-902F-3A5E2E55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16C20-27F4-4A89-8DC5-4229DED6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474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25211E"/>
                </a:solidFill>
              </a:defRPr>
            </a:defPPr>
            <a:lvl1pPr>
              <a:defRPr sz="1500" b="1">
                <a:solidFill>
                  <a:srgbClr val="25211E"/>
                </a:solidFill>
              </a:defRPr>
            </a:lvl1pPr>
            <a:lvl2pPr>
              <a:defRPr sz="1500" b="1">
                <a:solidFill>
                  <a:srgbClr val="25211E"/>
                </a:solidFill>
              </a:defRPr>
            </a:lvl2pPr>
            <a:lvl3pPr>
              <a:defRPr sz="1500" b="1">
                <a:solidFill>
                  <a:srgbClr val="25211E"/>
                </a:solidFill>
              </a:defRPr>
            </a:lvl3pPr>
            <a:lvl4pPr>
              <a:defRPr sz="1500" b="1">
                <a:solidFill>
                  <a:srgbClr val="25211E"/>
                </a:solidFill>
              </a:defRPr>
            </a:lvl4pPr>
            <a:lvl5pPr>
              <a:defRPr sz="1500" b="1">
                <a:solidFill>
                  <a:srgbClr val="25211E"/>
                </a:solidFill>
              </a:defRPr>
            </a:lvl5pPr>
            <a:lvl6pPr>
              <a:defRPr sz="1500" b="1">
                <a:solidFill>
                  <a:srgbClr val="25211E"/>
                </a:solidFill>
              </a:defRPr>
            </a:lvl6pPr>
            <a:lvl7pPr>
              <a:defRPr sz="1500" b="1">
                <a:solidFill>
                  <a:srgbClr val="25211E"/>
                </a:solidFill>
              </a:defRPr>
            </a:lvl7pPr>
            <a:lvl8pPr>
              <a:defRPr sz="1500" b="1">
                <a:solidFill>
                  <a:srgbClr val="25211E"/>
                </a:solidFill>
              </a:defRPr>
            </a:lvl8pPr>
            <a:lvl9pPr>
              <a:defRPr sz="15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5211E"/>
                </a:solidFill>
              </a:defRPr>
            </a:pPr>
            <a:r>
              <a:rPr sz="1500" b="1">
                <a:solidFill>
                  <a:srgbClr val="25211E"/>
                </a:solidFill>
              </a:rPr>
              <a:t>Recepció segura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CFBF0-D144-49C6-9312-B56E8628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673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5E57"/>
                </a:solidFill>
              </a:defRPr>
            </a:defPPr>
            <a:lvl1pPr>
              <a:defRPr sz="1200" b="0">
                <a:solidFill>
                  <a:srgbClr val="665E57"/>
                </a:solidFill>
              </a:defRPr>
            </a:lvl1pPr>
            <a:lvl2pPr>
              <a:defRPr sz="1200" b="0">
                <a:solidFill>
                  <a:srgbClr val="665E57"/>
                </a:solidFill>
              </a:defRPr>
            </a:lvl2pPr>
            <a:lvl3pPr>
              <a:defRPr sz="1200" b="0">
                <a:solidFill>
                  <a:srgbClr val="665E57"/>
                </a:solidFill>
              </a:defRPr>
            </a:lvl3pPr>
            <a:lvl4pPr>
              <a:defRPr sz="1200" b="0">
                <a:solidFill>
                  <a:srgbClr val="665E57"/>
                </a:solidFill>
              </a:defRPr>
            </a:lvl4pPr>
            <a:lvl5pPr>
              <a:defRPr sz="1200" b="0">
                <a:solidFill>
                  <a:srgbClr val="665E57"/>
                </a:solidFill>
              </a:defRPr>
            </a:lvl5pPr>
            <a:lvl6pPr>
              <a:defRPr sz="1200" b="0">
                <a:solidFill>
                  <a:srgbClr val="665E57"/>
                </a:solidFill>
              </a:defRPr>
            </a:lvl6pPr>
            <a:lvl7pPr>
              <a:defRPr sz="1200" b="0">
                <a:solidFill>
                  <a:srgbClr val="665E57"/>
                </a:solidFill>
              </a:defRPr>
            </a:lvl7pPr>
            <a:lvl8pPr>
              <a:defRPr sz="1200" b="0">
                <a:solidFill>
                  <a:srgbClr val="665E57"/>
                </a:solidFill>
              </a:defRPr>
            </a:lvl8pPr>
            <a:lvl9pPr>
              <a:defRPr sz="12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5E57"/>
                </a:solidFill>
              </a:defRPr>
            </a:pPr>
            <a:r>
              <a:rPr sz="1200" b="0">
                <a:solidFill>
                  <a:srgbClr val="665E57"/>
                </a:solidFill>
              </a:rPr>
              <a:t>Incidències registrades i lot bloquejat fins al vistiplau.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67ABA1-E8CF-48C9-B438-9381421A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8132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HU-01  Necessitats vinculades al pla i a la data requerida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597709-B540-418F-A458-3F422C2F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8137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HU-02  Estoc disponible amb reserves i bloquejos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DACDA-E7EE-4194-AA1F-D090E142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8142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HU-03  Aprovacions amb estat i avisos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31E856-A7AE-4B1B-9D07-2D837EC7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8147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HU-04  Comparació d’ofertes amb criteris comuns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9C03B-0F4D-4B27-9464-4FCD83E2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58152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HU-05  Avís de retard en materials crítics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73FCD-03E4-4D74-9503-A6877986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98157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HU-06  Recepció contra comanda i incidències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A7A08F-CBBC-4FE8-BBB7-FB4C3FB6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38162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HU-07  Bloqueig o alliberament del 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92C845-E836-40B1-9505-F94AEF9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781675"/>
            <a:ext cx="4981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25211E"/>
                </a:solidFill>
              </a:defRPr>
            </a:defPPr>
            <a:lvl1pPr>
              <a:defRPr sz="1200" b="0">
                <a:solidFill>
                  <a:srgbClr val="25211E"/>
                </a:solidFill>
              </a:defRPr>
            </a:lvl1pPr>
            <a:lvl2pPr>
              <a:defRPr sz="1200" b="0">
                <a:solidFill>
                  <a:srgbClr val="25211E"/>
                </a:solidFill>
              </a:defRPr>
            </a:lvl2pPr>
            <a:lvl3pPr>
              <a:defRPr sz="1200" b="0">
                <a:solidFill>
                  <a:srgbClr val="25211E"/>
                </a:solidFill>
              </a:defRPr>
            </a:lvl3pPr>
            <a:lvl4pPr>
              <a:defRPr sz="1200" b="0">
                <a:solidFill>
                  <a:srgbClr val="25211E"/>
                </a:solidFill>
              </a:defRPr>
            </a:lvl4pPr>
            <a:lvl5pPr>
              <a:defRPr sz="1200" b="0">
                <a:solidFill>
                  <a:srgbClr val="25211E"/>
                </a:solidFill>
              </a:defRPr>
            </a:lvl5pPr>
            <a:lvl6pPr>
              <a:defRPr sz="1200" b="0">
                <a:solidFill>
                  <a:srgbClr val="25211E"/>
                </a:solidFill>
              </a:defRPr>
            </a:lvl6pPr>
            <a:lvl7pPr>
              <a:defRPr sz="1200" b="0">
                <a:solidFill>
                  <a:srgbClr val="25211E"/>
                </a:solidFill>
              </a:defRPr>
            </a:lvl7pPr>
            <a:lvl8pPr>
              <a:defRPr sz="1200" b="0">
                <a:solidFill>
                  <a:srgbClr val="25211E"/>
                </a:solidFill>
              </a:defRPr>
            </a:lvl8pPr>
            <a:lvl9pPr>
              <a:defRPr sz="1200" b="0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211E"/>
                </a:solidFill>
              </a:defRPr>
            </a:pPr>
            <a:r>
              <a:rPr sz="1200" b="0">
                <a:solidFill>
                  <a:srgbClr val="25211E"/>
                </a:solidFill>
              </a:rPr>
              <a:t>HU-08  Estoc actualitzat i avís a producció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110C72-57E7-4819-8974-A349BCE2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E1B024-03C0-4921-8D80-3315A145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74F32"/>
                </a:solidFill>
              </a:defRPr>
            </a:defPPr>
            <a:lvl1pPr>
              <a:defRPr sz="1200" b="1">
                <a:solidFill>
                  <a:srgbClr val="A74F32"/>
                </a:solidFill>
              </a:defRPr>
            </a:lvl1pPr>
            <a:lvl2pPr>
              <a:defRPr sz="1200" b="1">
                <a:solidFill>
                  <a:srgbClr val="A74F32"/>
                </a:solidFill>
              </a:defRPr>
            </a:lvl2pPr>
            <a:lvl3pPr>
              <a:defRPr sz="1200" b="1">
                <a:solidFill>
                  <a:srgbClr val="A74F32"/>
                </a:solidFill>
              </a:defRPr>
            </a:lvl3pPr>
            <a:lvl4pPr>
              <a:defRPr sz="1200" b="1">
                <a:solidFill>
                  <a:srgbClr val="A74F32"/>
                </a:solidFill>
              </a:defRPr>
            </a:lvl4pPr>
            <a:lvl5pPr>
              <a:defRPr sz="1200" b="1">
                <a:solidFill>
                  <a:srgbClr val="A74F32"/>
                </a:solidFill>
              </a:defRPr>
            </a:lvl5pPr>
            <a:lvl6pPr>
              <a:defRPr sz="1200" b="1">
                <a:solidFill>
                  <a:srgbClr val="A74F32"/>
                </a:solidFill>
              </a:defRPr>
            </a:lvl6pPr>
            <a:lvl7pPr>
              <a:defRPr sz="1200" b="1">
                <a:solidFill>
                  <a:srgbClr val="A74F32"/>
                </a:solidFill>
              </a:defRPr>
            </a:lvl7pPr>
            <a:lvl8pPr>
              <a:defRPr sz="1200" b="1">
                <a:solidFill>
                  <a:srgbClr val="A74F32"/>
                </a:solidFill>
              </a:defRPr>
            </a:lvl8pPr>
            <a:lvl9pPr>
              <a:defRPr sz="1200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74F32"/>
                </a:solidFill>
              </a:defRPr>
            </a:pPr>
            <a:r>
              <a:rPr sz="1200" b="1">
                <a:solidFill>
                  <a:srgbClr val="A74F32"/>
                </a:solidFill>
              </a:rPr>
              <a:t>Models i històries d’usuari completes a la web de Nexe.</a:t>
            </a:r>
          </a:p>
        </p:txBody>
      </p:sp>
    </p:spTree>
    <p:extLst>
      <p:ext uri="{BB962C8B-B14F-4D97-AF65-F5344CB8AC3E}">
        <p14:creationId xmlns:p14="http://schemas.microsoft.com/office/powerpoint/2010/main" val="522902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2026-10-22T15:18:53.5330000Z</dcterms:created>
  <dcterms:modified xsi:type="dcterms:W3CDTF">2026-10-22T15:18:53.5330000Z</dcterms:modified>
</coreProperties>
</file>