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110835c4bf433a" /><Relationship Type="http://schemas.openxmlformats.org/officeDocument/2006/relationships/extended-properties" Target="/docProps/app.xml" Id="Rb1dab997d988414c" /><Relationship Type="http://schemas.openxmlformats.org/officeDocument/2006/relationships/officeDocument" Target="/ppt/presentation.xml" Id="R37d375729a614a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bb9394a3694eaf"/>
  </p:sldMasterIdLst>
  <p:notesMasterIdLst>
    <p:notesMasterId xmlns:r="http://schemas.openxmlformats.org/officeDocument/2006/relationships" r:id="R878e8da58a8d407b"/>
  </p:notesMasterIdLst>
  <p:sldIdLst>
    <p:sldId xmlns:r="http://schemas.openxmlformats.org/officeDocument/2006/relationships" id="256" r:id="R69e4313439904b85"/>
    <p:sldId xmlns:r="http://schemas.openxmlformats.org/officeDocument/2006/relationships" id="257" r:id="Rd9ed5a76f5eb40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30002e78aa4772" /><Relationship Type="http://schemas.openxmlformats.org/officeDocument/2006/relationships/slideMaster" Target="/ppt/slideMasters/slideMaster1.xml" Id="R65bb9394a3694eaf" /><Relationship Type="http://schemas.openxmlformats.org/officeDocument/2006/relationships/notesMaster" Target="/ppt/notesMasters/notesMaster1.xml" Id="R878e8da58a8d407b" /><Relationship Type="http://schemas.openxmlformats.org/officeDocument/2006/relationships/presProps" Target="/ppt/presProps.xml" Id="Reba821bec3324047" /><Relationship Type="http://schemas.openxmlformats.org/officeDocument/2006/relationships/tableStyles" Target="/ppt/tableStyles.xml" Id="R29843aa3541d410c" /><Relationship Type="http://schemas.openxmlformats.org/officeDocument/2006/relationships/slide" Target="/ppt/slides/slide1.xml" Id="R69e4313439904b85" /><Relationship Type="http://schemas.openxmlformats.org/officeDocument/2006/relationships/slide" Target="/ppt/slides/slide2.xml" Id="Rd9ed5a76f5eb40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fb109b3c6446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80f6fd785a49d5" /><Relationship Type="http://schemas.openxmlformats.org/officeDocument/2006/relationships/notesMaster" Target="/ppt/notesMasters/notesMaster1.xml" Id="Rd009fb6722a349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d81dc95c154943" /><Relationship Type="http://schemas.openxmlformats.org/officeDocument/2006/relationships/notesMaster" Target="/ppt/notesMasters/notesMaster1.xml" Id="R2979a712c51148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ee842884845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bb95d0e4542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f1ca72ffe47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859204c1a48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1c71e779b240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06fc6722249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68BFD8-DC0C-43DB-AC91-4DE5521229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526CDA-AB74-49BD-A13A-882A2BD903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ED767F9-E99B-4302-9FF8-C58D5D85DA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45813D-598F-4AC2-9801-39FC7C462D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4705E7-3567-4368-B9BB-C7E5DF2B62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7AAF0C-FFF2-465E-8F66-50253BA5B9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DD3B8C-CF1B-4E5F-A9F6-265641CCCE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7F2153-3DB4-4C69-88B5-0748E6FC84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8DCF80-829C-4197-8FAB-616A236A47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9AC117-4906-4A72-8406-44FACA107C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ed8533f6904e42" /><Relationship Type="http://schemas.openxmlformats.org/officeDocument/2006/relationships/slideLayout" Target="/ppt/slideLayouts/slideLayout1.xml" Id="R73e3b655c95d4e9d" /><Relationship Type="http://schemas.openxmlformats.org/officeDocument/2006/relationships/slideLayout" Target="/ppt/slideLayouts/slideLayout2.xml" Id="R6ddda9cbb4954dc7" /><Relationship Type="http://schemas.openxmlformats.org/officeDocument/2006/relationships/slideLayout" Target="/ppt/slideLayouts/slideLayout3.xml" Id="R9e77bffe4a384b09" /><Relationship Type="http://schemas.openxmlformats.org/officeDocument/2006/relationships/slideLayout" Target="/ppt/slideLayouts/slideLayout4.xml" Id="R2c3d0287d43a41d2" /><Relationship Type="http://schemas.openxmlformats.org/officeDocument/2006/relationships/slideLayout" Target="/ppt/slideLayouts/slideLayout5.xml" Id="R58bc511555ca4862" /><Relationship Type="http://schemas.openxmlformats.org/officeDocument/2006/relationships/slideLayout" Target="/ppt/slideLayouts/slideLayout6.xml" Id="R0543c0e748b54a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e3b655c95d4e9d"/>
    <p:sldLayoutId xmlns:r="http://schemas.openxmlformats.org/officeDocument/2006/relationships" id="2147483650" r:id="R6ddda9cbb4954dc7"/>
    <p:sldLayoutId xmlns:r="http://schemas.openxmlformats.org/officeDocument/2006/relationships" id="2147483651" r:id="R9e77bffe4a384b09"/>
    <p:sldLayoutId xmlns:r="http://schemas.openxmlformats.org/officeDocument/2006/relationships" id="2147483652" r:id="R2c3d0287d43a41d2"/>
    <p:sldLayoutId xmlns:r="http://schemas.openxmlformats.org/officeDocument/2006/relationships" id="2147483653" r:id="R58bc511555ca4862"/>
    <p:sldLayoutId xmlns:r="http://schemas.openxmlformats.org/officeDocument/2006/relationships" id="2147483654" r:id="R0543c0e748b54a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70c1a165b4b5a" /><Relationship Type="http://schemas.openxmlformats.org/officeDocument/2006/relationships/notesSlide" Target="/ppt/notesSlides/notesSlide1.xml" Id="Rfb2850df1f9d42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f85e51954451d" /><Relationship Type="http://schemas.openxmlformats.org/officeDocument/2006/relationships/notesSlide" Target="/ppt/notesSlides/notesSlide2.xml" Id="R2dc59d57a6b443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14E9F-3592-42CB-8B0A-E76AF7F7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74F32"/>
                </a:solidFill>
              </a:defRPr>
            </a:defPPr>
            <a:lvl1pPr>
              <a:defRPr sz="1725" b="1">
                <a:solidFill>
                  <a:srgbClr val="A74F32"/>
                </a:solidFill>
              </a:defRPr>
            </a:lvl1pPr>
            <a:lvl2pPr>
              <a:defRPr sz="1725" b="1">
                <a:solidFill>
                  <a:srgbClr val="A74F32"/>
                </a:solidFill>
              </a:defRPr>
            </a:lvl2pPr>
            <a:lvl3pPr>
              <a:defRPr sz="1725" b="1">
                <a:solidFill>
                  <a:srgbClr val="A74F32"/>
                </a:solidFill>
              </a:defRPr>
            </a:lvl3pPr>
            <a:lvl4pPr>
              <a:defRPr sz="1725" b="1">
                <a:solidFill>
                  <a:srgbClr val="A74F32"/>
                </a:solidFill>
              </a:defRPr>
            </a:lvl4pPr>
            <a:lvl5pPr>
              <a:defRPr sz="1725" b="1">
                <a:solidFill>
                  <a:srgbClr val="A74F32"/>
                </a:solidFill>
              </a:defRPr>
            </a:lvl5pPr>
            <a:lvl6pPr>
              <a:defRPr sz="1725" b="1">
                <a:solidFill>
                  <a:srgbClr val="A74F32"/>
                </a:solidFill>
              </a:defRPr>
            </a:lvl6pPr>
            <a:lvl7pPr>
              <a:defRPr sz="1725" b="1">
                <a:solidFill>
                  <a:srgbClr val="A74F32"/>
                </a:solidFill>
              </a:defRPr>
            </a:lvl7pPr>
            <a:lvl8pPr>
              <a:defRPr sz="1725" b="1">
                <a:solidFill>
                  <a:srgbClr val="A74F32"/>
                </a:solidFill>
              </a:defRPr>
            </a:lvl8pPr>
            <a:lvl9pPr>
              <a:defRPr sz="172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74F32"/>
                </a:solidFill>
              </a:defRPr>
            </a:pPr>
            <a:r>
              <a:rPr sz="1725" b="1">
                <a:solidFill>
                  <a:srgbClr val="A74F32"/>
                </a:solidFill>
              </a:rPr>
              <a:t>NEXE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9C8AE-B920-4331-BFF7-690AB46F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65E57"/>
                </a:solidFill>
              </a:defRPr>
            </a:defPPr>
            <a:lvl1pPr>
              <a:defRPr sz="1125" b="1">
                <a:solidFill>
                  <a:srgbClr val="665E57"/>
                </a:solidFill>
              </a:defRPr>
            </a:lvl1pPr>
            <a:lvl2pPr>
              <a:defRPr sz="1125" b="1">
                <a:solidFill>
                  <a:srgbClr val="665E57"/>
                </a:solidFill>
              </a:defRPr>
            </a:lvl2pPr>
            <a:lvl3pPr>
              <a:defRPr sz="1125" b="1">
                <a:solidFill>
                  <a:srgbClr val="665E57"/>
                </a:solidFill>
              </a:defRPr>
            </a:lvl3pPr>
            <a:lvl4pPr>
              <a:defRPr sz="1125" b="1">
                <a:solidFill>
                  <a:srgbClr val="665E57"/>
                </a:solidFill>
              </a:defRPr>
            </a:lvl4pPr>
            <a:lvl5pPr>
              <a:defRPr sz="1125" b="1">
                <a:solidFill>
                  <a:srgbClr val="665E57"/>
                </a:solidFill>
              </a:defRPr>
            </a:lvl5pPr>
            <a:lvl6pPr>
              <a:defRPr sz="1125" b="1">
                <a:solidFill>
                  <a:srgbClr val="665E57"/>
                </a:solidFill>
              </a:defRPr>
            </a:lvl6pPr>
            <a:lvl7pPr>
              <a:defRPr sz="1125" b="1">
                <a:solidFill>
                  <a:srgbClr val="665E57"/>
                </a:solidFill>
              </a:defRPr>
            </a:lvl7pPr>
            <a:lvl8pPr>
              <a:defRPr sz="1125" b="1">
                <a:solidFill>
                  <a:srgbClr val="665E57"/>
                </a:solidFill>
              </a:defRPr>
            </a:lvl8pPr>
            <a:lvl9pPr>
              <a:defRPr sz="1125" b="1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65E57"/>
                </a:solidFill>
              </a:defRPr>
            </a:pPr>
            <a:r>
              <a:rPr sz="1125" b="1">
                <a:solidFill>
                  <a:srgbClr val="665E57"/>
                </a:solidFill>
              </a:rPr>
              <a:t>CERÀMICA RIU SEC · APROVISIONAMENT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4B6FA-6DDF-41EB-B7C0-DAA5722D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23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65E57"/>
                </a:solidFill>
              </a:defRPr>
            </a:defPPr>
            <a:lvl1pPr>
              <a:defRPr sz="1125" b="0">
                <a:solidFill>
                  <a:srgbClr val="665E57"/>
                </a:solidFill>
              </a:defRPr>
            </a:lvl1pPr>
            <a:lvl2pPr>
              <a:defRPr sz="1125" b="0">
                <a:solidFill>
                  <a:srgbClr val="665E57"/>
                </a:solidFill>
              </a:defRPr>
            </a:lvl2pPr>
            <a:lvl3pPr>
              <a:defRPr sz="1125" b="0">
                <a:solidFill>
                  <a:srgbClr val="665E57"/>
                </a:solidFill>
              </a:defRPr>
            </a:lvl3pPr>
            <a:lvl4pPr>
              <a:defRPr sz="1125" b="0">
                <a:solidFill>
                  <a:srgbClr val="665E57"/>
                </a:solidFill>
              </a:defRPr>
            </a:lvl4pPr>
            <a:lvl5pPr>
              <a:defRPr sz="1125" b="0">
                <a:solidFill>
                  <a:srgbClr val="665E57"/>
                </a:solidFill>
              </a:defRPr>
            </a:lvl5pPr>
            <a:lvl6pPr>
              <a:defRPr sz="1125" b="0">
                <a:solidFill>
                  <a:srgbClr val="665E57"/>
                </a:solidFill>
              </a:defRPr>
            </a:lvl6pPr>
            <a:lvl7pPr>
              <a:defRPr sz="1125" b="0">
                <a:solidFill>
                  <a:srgbClr val="665E57"/>
                </a:solidFill>
              </a:defRPr>
            </a:lvl7pPr>
            <a:lvl8pPr>
              <a:defRPr sz="1125" b="0">
                <a:solidFill>
                  <a:srgbClr val="665E57"/>
                </a:solidFill>
              </a:defRPr>
            </a:lvl8pPr>
            <a:lvl9pPr>
              <a:defRPr sz="1125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5E57"/>
                </a:solidFill>
              </a:defRPr>
            </a:pPr>
            <a:r>
              <a:rPr sz="1125" b="0">
                <a:solidFill>
                  <a:srgbClr val="665E57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80B55-4B6F-4ED6-8C63-D9522308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3CA33-240F-441D-B333-A9678E1E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25211E"/>
                </a:solidFill>
              </a:defRPr>
            </a:defPPr>
            <a:lvl1pPr>
              <a:defRPr sz="3600" b="1">
                <a:solidFill>
                  <a:srgbClr val="25211E"/>
                </a:solidFill>
              </a:defRPr>
            </a:lvl1pPr>
            <a:lvl2pPr>
              <a:defRPr sz="3600" b="1">
                <a:solidFill>
                  <a:srgbClr val="25211E"/>
                </a:solidFill>
              </a:defRPr>
            </a:lvl2pPr>
            <a:lvl3pPr>
              <a:defRPr sz="3600" b="1">
                <a:solidFill>
                  <a:srgbClr val="25211E"/>
                </a:solidFill>
              </a:defRPr>
            </a:lvl3pPr>
            <a:lvl4pPr>
              <a:defRPr sz="3600" b="1">
                <a:solidFill>
                  <a:srgbClr val="25211E"/>
                </a:solidFill>
              </a:defRPr>
            </a:lvl4pPr>
            <a:lvl5pPr>
              <a:defRPr sz="3600" b="1">
                <a:solidFill>
                  <a:srgbClr val="25211E"/>
                </a:solidFill>
              </a:defRPr>
            </a:lvl5pPr>
            <a:lvl6pPr>
              <a:defRPr sz="3600" b="1">
                <a:solidFill>
                  <a:srgbClr val="25211E"/>
                </a:solidFill>
              </a:defRPr>
            </a:lvl6pPr>
            <a:lvl7pPr>
              <a:defRPr sz="3600" b="1">
                <a:solidFill>
                  <a:srgbClr val="25211E"/>
                </a:solidFill>
              </a:defRPr>
            </a:lvl7pPr>
            <a:lvl8pPr>
              <a:defRPr sz="3600" b="1">
                <a:solidFill>
                  <a:srgbClr val="25211E"/>
                </a:solidFill>
              </a:defRPr>
            </a:lvl8pPr>
            <a:lvl9pPr>
              <a:defRPr sz="36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5211E"/>
                </a:solidFill>
              </a:defRPr>
            </a:pPr>
            <a:r>
              <a:rPr sz="3600" b="1">
                <a:solidFill>
                  <a:srgbClr val="25211E"/>
                </a:solidFill>
              </a:rPr>
              <a:t>El procés actual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DF85A-1D29-4636-B664-B8519F9C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6334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665E57"/>
                </a:solidFill>
              </a:defRPr>
            </a:defPPr>
            <a:lvl1pPr>
              <a:defRPr sz="1875" b="0">
                <a:solidFill>
                  <a:srgbClr val="665E57"/>
                </a:solidFill>
              </a:defRPr>
            </a:lvl1pPr>
            <a:lvl2pPr>
              <a:defRPr sz="1875" b="0">
                <a:solidFill>
                  <a:srgbClr val="665E57"/>
                </a:solidFill>
              </a:defRPr>
            </a:lvl2pPr>
            <a:lvl3pPr>
              <a:defRPr sz="1875" b="0">
                <a:solidFill>
                  <a:srgbClr val="665E57"/>
                </a:solidFill>
              </a:defRPr>
            </a:lvl3pPr>
            <a:lvl4pPr>
              <a:defRPr sz="1875" b="0">
                <a:solidFill>
                  <a:srgbClr val="665E57"/>
                </a:solidFill>
              </a:defRPr>
            </a:lvl4pPr>
            <a:lvl5pPr>
              <a:defRPr sz="1875" b="0">
                <a:solidFill>
                  <a:srgbClr val="665E57"/>
                </a:solidFill>
              </a:defRPr>
            </a:lvl5pPr>
            <a:lvl6pPr>
              <a:defRPr sz="1875" b="0">
                <a:solidFill>
                  <a:srgbClr val="665E57"/>
                </a:solidFill>
              </a:defRPr>
            </a:lvl6pPr>
            <a:lvl7pPr>
              <a:defRPr sz="1875" b="0">
                <a:solidFill>
                  <a:srgbClr val="665E57"/>
                </a:solidFill>
              </a:defRPr>
            </a:lvl7pPr>
            <a:lvl8pPr>
              <a:defRPr sz="1875" b="0">
                <a:solidFill>
                  <a:srgbClr val="665E57"/>
                </a:solidFill>
              </a:defRPr>
            </a:lvl8pPr>
            <a:lvl9pPr>
              <a:defRPr sz="1875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65E57"/>
                </a:solidFill>
              </a:defRPr>
            </a:pPr>
            <a:r>
              <a:rPr sz="1875" b="0">
                <a:solidFill>
                  <a:srgbClr val="665E57"/>
                </a:solidFill>
              </a:rPr>
              <a:t>La informació passa per correus i fulls separats. Cada retard arriba a producció quan ja costa reaccionar.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77319-64C6-4450-9625-714099A4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E448E-9C9E-4A71-8856-F1EA4231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Pla i estoc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DF373-A640-4E3D-A494-DF9989E2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146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Els canvis del pla i les reserves no sempre coincideixen amb les dades que usa compres.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9E7B2-FF48-49BA-9A2C-2F325642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30442-D5DB-4C38-8239-E733EA4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147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Autorització i oferta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C73BB-98E2-4237-96BF-42397319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147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La petició recorre diversos correus. La comparació d’ofertes queda dispersa.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75B3E-F0E2-4739-9782-A0B87D87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63F6D-A62A-4B91-BBF4-2DDEAE63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148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Lliurament i recepció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E6722-93A2-40B0-9397-B10ACC0D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148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La data promesa i les diferències rebudes no es comparteixen a temps.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386D2-8D0B-4615-B36D-4ED93883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86AE1-93FE-47A3-9FEE-7336D929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149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Qualitat i entrada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28E17-27D7-4A85-8D65-187987DA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149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Un lot pendent pot aparentar disponible; l’estoc es registra després a mà.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6D69A-6E63-4E82-BF0C-E9F8E96B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2374E-D477-420B-B7D1-2621BB4C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Abast: del pla de fabricació fins a l’estoc acceptat i comunicat a producció.</a:t>
            </a:r>
          </a:p>
        </p:txBody>
      </p:sp>
    </p:spTree>
    <p:extLst>
      <p:ext uri="{BB962C8B-B14F-4D97-AF65-F5344CB8AC3E}">
        <p14:creationId xmlns:p14="http://schemas.microsoft.com/office/powerpoint/2010/main" val="1678979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837407-2907-4680-AA21-7A6587C3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74F32"/>
                </a:solidFill>
              </a:defRPr>
            </a:defPPr>
            <a:lvl1pPr>
              <a:defRPr sz="1725" b="1">
                <a:solidFill>
                  <a:srgbClr val="A74F32"/>
                </a:solidFill>
              </a:defRPr>
            </a:lvl1pPr>
            <a:lvl2pPr>
              <a:defRPr sz="1725" b="1">
                <a:solidFill>
                  <a:srgbClr val="A74F32"/>
                </a:solidFill>
              </a:defRPr>
            </a:lvl2pPr>
            <a:lvl3pPr>
              <a:defRPr sz="1725" b="1">
                <a:solidFill>
                  <a:srgbClr val="A74F32"/>
                </a:solidFill>
              </a:defRPr>
            </a:lvl3pPr>
            <a:lvl4pPr>
              <a:defRPr sz="1725" b="1">
                <a:solidFill>
                  <a:srgbClr val="A74F32"/>
                </a:solidFill>
              </a:defRPr>
            </a:lvl4pPr>
            <a:lvl5pPr>
              <a:defRPr sz="1725" b="1">
                <a:solidFill>
                  <a:srgbClr val="A74F32"/>
                </a:solidFill>
              </a:defRPr>
            </a:lvl5pPr>
            <a:lvl6pPr>
              <a:defRPr sz="1725" b="1">
                <a:solidFill>
                  <a:srgbClr val="A74F32"/>
                </a:solidFill>
              </a:defRPr>
            </a:lvl6pPr>
            <a:lvl7pPr>
              <a:defRPr sz="1725" b="1">
                <a:solidFill>
                  <a:srgbClr val="A74F32"/>
                </a:solidFill>
              </a:defRPr>
            </a:lvl7pPr>
            <a:lvl8pPr>
              <a:defRPr sz="1725" b="1">
                <a:solidFill>
                  <a:srgbClr val="A74F32"/>
                </a:solidFill>
              </a:defRPr>
            </a:lvl8pPr>
            <a:lvl9pPr>
              <a:defRPr sz="172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74F32"/>
                </a:solidFill>
              </a:defRPr>
            </a:pPr>
            <a:r>
              <a:rPr sz="1725" b="1">
                <a:solidFill>
                  <a:srgbClr val="A74F32"/>
                </a:solidFill>
              </a:rPr>
              <a:t>NEXE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5A32B-5CEA-4A5E-9A24-79AF71CB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65E57"/>
                </a:solidFill>
              </a:defRPr>
            </a:defPPr>
            <a:lvl1pPr>
              <a:defRPr sz="1125" b="1">
                <a:solidFill>
                  <a:srgbClr val="665E57"/>
                </a:solidFill>
              </a:defRPr>
            </a:lvl1pPr>
            <a:lvl2pPr>
              <a:defRPr sz="1125" b="1">
                <a:solidFill>
                  <a:srgbClr val="665E57"/>
                </a:solidFill>
              </a:defRPr>
            </a:lvl2pPr>
            <a:lvl3pPr>
              <a:defRPr sz="1125" b="1">
                <a:solidFill>
                  <a:srgbClr val="665E57"/>
                </a:solidFill>
              </a:defRPr>
            </a:lvl3pPr>
            <a:lvl4pPr>
              <a:defRPr sz="1125" b="1">
                <a:solidFill>
                  <a:srgbClr val="665E57"/>
                </a:solidFill>
              </a:defRPr>
            </a:lvl4pPr>
            <a:lvl5pPr>
              <a:defRPr sz="1125" b="1">
                <a:solidFill>
                  <a:srgbClr val="665E57"/>
                </a:solidFill>
              </a:defRPr>
            </a:lvl5pPr>
            <a:lvl6pPr>
              <a:defRPr sz="1125" b="1">
                <a:solidFill>
                  <a:srgbClr val="665E57"/>
                </a:solidFill>
              </a:defRPr>
            </a:lvl6pPr>
            <a:lvl7pPr>
              <a:defRPr sz="1125" b="1">
                <a:solidFill>
                  <a:srgbClr val="665E57"/>
                </a:solidFill>
              </a:defRPr>
            </a:lvl7pPr>
            <a:lvl8pPr>
              <a:defRPr sz="1125" b="1">
                <a:solidFill>
                  <a:srgbClr val="665E57"/>
                </a:solidFill>
              </a:defRPr>
            </a:lvl8pPr>
            <a:lvl9pPr>
              <a:defRPr sz="1125" b="1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65E57"/>
                </a:solidFill>
              </a:defRPr>
            </a:pPr>
            <a:r>
              <a:rPr sz="1125" b="1">
                <a:solidFill>
                  <a:srgbClr val="665E57"/>
                </a:solidFill>
              </a:rPr>
              <a:t>PROPOSTA DE MILLORA · TO-BE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B85F0-AEA3-406F-A090-4B921055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23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65E57"/>
                </a:solidFill>
              </a:defRPr>
            </a:defPPr>
            <a:lvl1pPr>
              <a:defRPr sz="1125" b="0">
                <a:solidFill>
                  <a:srgbClr val="665E57"/>
                </a:solidFill>
              </a:defRPr>
            </a:lvl1pPr>
            <a:lvl2pPr>
              <a:defRPr sz="1125" b="0">
                <a:solidFill>
                  <a:srgbClr val="665E57"/>
                </a:solidFill>
              </a:defRPr>
            </a:lvl2pPr>
            <a:lvl3pPr>
              <a:defRPr sz="1125" b="0">
                <a:solidFill>
                  <a:srgbClr val="665E57"/>
                </a:solidFill>
              </a:defRPr>
            </a:lvl3pPr>
            <a:lvl4pPr>
              <a:defRPr sz="1125" b="0">
                <a:solidFill>
                  <a:srgbClr val="665E57"/>
                </a:solidFill>
              </a:defRPr>
            </a:lvl4pPr>
            <a:lvl5pPr>
              <a:defRPr sz="1125" b="0">
                <a:solidFill>
                  <a:srgbClr val="665E57"/>
                </a:solidFill>
              </a:defRPr>
            </a:lvl5pPr>
            <a:lvl6pPr>
              <a:defRPr sz="1125" b="0">
                <a:solidFill>
                  <a:srgbClr val="665E57"/>
                </a:solidFill>
              </a:defRPr>
            </a:lvl6pPr>
            <a:lvl7pPr>
              <a:defRPr sz="1125" b="0">
                <a:solidFill>
                  <a:srgbClr val="665E57"/>
                </a:solidFill>
              </a:defRPr>
            </a:lvl7pPr>
            <a:lvl8pPr>
              <a:defRPr sz="1125" b="0">
                <a:solidFill>
                  <a:srgbClr val="665E57"/>
                </a:solidFill>
              </a:defRPr>
            </a:lvl8pPr>
            <a:lvl9pPr>
              <a:defRPr sz="1125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5E57"/>
                </a:solidFill>
              </a:defRPr>
            </a:pPr>
            <a:r>
              <a:rPr sz="1125" b="0">
                <a:solidFill>
                  <a:srgbClr val="665E57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968E8-5F6B-40CD-B076-63534CBF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EF1EE-10A3-4DEB-9CBF-C37DEAD5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450" b="1">
                <a:solidFill>
                  <a:srgbClr val="25211E"/>
                </a:solidFill>
              </a:defRPr>
            </a:defPPr>
            <a:lvl1pPr>
              <a:defRPr sz="3450" b="1">
                <a:solidFill>
                  <a:srgbClr val="25211E"/>
                </a:solidFill>
              </a:defRPr>
            </a:lvl1pPr>
            <a:lvl2pPr>
              <a:defRPr sz="3450" b="1">
                <a:solidFill>
                  <a:srgbClr val="25211E"/>
                </a:solidFill>
              </a:defRPr>
            </a:lvl2pPr>
            <a:lvl3pPr>
              <a:defRPr sz="3450" b="1">
                <a:solidFill>
                  <a:srgbClr val="25211E"/>
                </a:solidFill>
              </a:defRPr>
            </a:lvl3pPr>
            <a:lvl4pPr>
              <a:defRPr sz="3450" b="1">
                <a:solidFill>
                  <a:srgbClr val="25211E"/>
                </a:solidFill>
              </a:defRPr>
            </a:lvl4pPr>
            <a:lvl5pPr>
              <a:defRPr sz="3450" b="1">
                <a:solidFill>
                  <a:srgbClr val="25211E"/>
                </a:solidFill>
              </a:defRPr>
            </a:lvl5pPr>
            <a:lvl6pPr>
              <a:defRPr sz="3450" b="1">
                <a:solidFill>
                  <a:srgbClr val="25211E"/>
                </a:solidFill>
              </a:defRPr>
            </a:lvl6pPr>
            <a:lvl7pPr>
              <a:defRPr sz="3450" b="1">
                <a:solidFill>
                  <a:srgbClr val="25211E"/>
                </a:solidFill>
              </a:defRPr>
            </a:lvl7pPr>
            <a:lvl8pPr>
              <a:defRPr sz="3450" b="1">
                <a:solidFill>
                  <a:srgbClr val="25211E"/>
                </a:solidFill>
              </a:defRPr>
            </a:lvl8pPr>
            <a:lvl9pPr>
              <a:defRPr sz="34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5211E"/>
                </a:solidFill>
              </a:defRPr>
            </a:pPr>
            <a:r>
              <a:rPr sz="3450" b="1">
                <a:solidFill>
                  <a:srgbClr val="25211E"/>
                </a:solidFill>
              </a:rPr>
              <a:t>Millores i requisits de l’ERP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6B929-1038-4F24-9BCA-93CDF93E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665E57"/>
                </a:solidFill>
              </a:defRPr>
            </a:defPPr>
            <a:lvl1pPr>
              <a:defRPr sz="1650" b="0">
                <a:solidFill>
                  <a:srgbClr val="665E57"/>
                </a:solidFill>
              </a:defRPr>
            </a:lvl1pPr>
            <a:lvl2pPr>
              <a:defRPr sz="1650" b="0">
                <a:solidFill>
                  <a:srgbClr val="665E57"/>
                </a:solidFill>
              </a:defRPr>
            </a:lvl2pPr>
            <a:lvl3pPr>
              <a:defRPr sz="1650" b="0">
                <a:solidFill>
                  <a:srgbClr val="665E57"/>
                </a:solidFill>
              </a:defRPr>
            </a:lvl3pPr>
            <a:lvl4pPr>
              <a:defRPr sz="1650" b="0">
                <a:solidFill>
                  <a:srgbClr val="665E57"/>
                </a:solidFill>
              </a:defRPr>
            </a:lvl4pPr>
            <a:lvl5pPr>
              <a:defRPr sz="1650" b="0">
                <a:solidFill>
                  <a:srgbClr val="665E57"/>
                </a:solidFill>
              </a:defRPr>
            </a:lvl5pPr>
            <a:lvl6pPr>
              <a:defRPr sz="1650" b="0">
                <a:solidFill>
                  <a:srgbClr val="665E57"/>
                </a:solidFill>
              </a:defRPr>
            </a:lvl6pPr>
            <a:lvl7pPr>
              <a:defRPr sz="1650" b="0">
                <a:solidFill>
                  <a:srgbClr val="665E57"/>
                </a:solidFill>
              </a:defRPr>
            </a:lvl7pPr>
            <a:lvl8pPr>
              <a:defRPr sz="1650" b="0">
                <a:solidFill>
                  <a:srgbClr val="665E57"/>
                </a:solidFill>
              </a:defRPr>
            </a:lvl8pPr>
            <a:lvl9pPr>
              <a:defRPr sz="16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5E57"/>
                </a:solidFill>
              </a:defRPr>
            </a:pPr>
            <a:r>
              <a:rPr sz="1650" b="0">
                <a:solidFill>
                  <a:srgbClr val="665E57"/>
                </a:solidFill>
              </a:rPr>
              <a:t>Les decisions de compra i qualitat continuen en mans de les persones.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2AE88-2667-4E14-8CE3-85ADAB63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19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MILLORES DEL PROCÉS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24928-9B7E-4503-92AB-ABC00315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33650"/>
            <a:ext cx="500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REQUISITS FUNCIONALS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705B9-F1A7-47F9-B7F3-62458EF2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E26FE-59B7-4FC8-BD81-E433532B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Pla, estoc i reposició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50314-44E4-483C-AED1-E52918E6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Estoc real amb reserves i lots bloquejats. Mínims i punts de reposició per material.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82F4E-E50F-48DB-941D-D6EEA23D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79BD4-67A9-42BB-9BDF-47768A51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Compra traçable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3B9E40-3764-4BDC-B29A-DF29F7AF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8622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Aprovació amb responsable i selecció amb criteris comuns.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27CFD-7880-4CAB-BD42-5D1087FA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7B4C6-C862-4318-A45D-DB7C4030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Risc per a producció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EE638-A4D8-4BEF-AFB5-10C5E158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Retards i lots bloquejats vinculats a les ordres afectades.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D8F41-A1D9-4314-A8AC-D68F701E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B8AC2-44B0-42AE-93D9-AEBD6320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Recepció i qualitat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15B92-50FD-40B2-B8D6-0B9DB50A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6737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La part rebuda es revisa; el saldo continua pendent.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BDE8C-A830-4ECA-A91D-88245055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8132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HU-01  Necessitats vinculades al pla i a la data requerida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95570-1A48-40AF-8F17-F658F977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8137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HU-02  Estoc real i punts de reposició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B59B09-E9D4-409B-B95C-5B601F74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8142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HU-03  Aprovacions amb estat i avisos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021CCD-364D-4C85-96E1-2BBA3CC4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8147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HU-04  Comparació d’ofertes amb criteris comuns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B1AD64-81A9-40A1-8448-D89E4FBF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58152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HU-05  Ordres afectades per retard o lot bloquejat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56BEA3-7884-4314-9EBB-897EC22D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98157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HU-06  Recepció contra comanda i incidències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555E98-8269-4580-A351-13058025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38162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HU-07  Criteris de qualitat per argila i esmalts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35A538-6283-45F1-A0B9-617F241F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78167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HU-08  Estoc actualitzat i avís a producció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003C84-59B3-45A3-BBAA-837F8E4F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3A0A06-76BC-4089-86D2-4C353870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Models i històries d’usuari completes a la web de Nexe.</a:t>
            </a:r>
          </a:p>
        </p:txBody>
      </p:sp>
    </p:spTree>
    <p:extLst>
      <p:ext uri="{BB962C8B-B14F-4D97-AF65-F5344CB8AC3E}">
        <p14:creationId xmlns:p14="http://schemas.microsoft.com/office/powerpoint/2010/main" val="1729299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2026-10-22T16:00:38.8920000Z</dcterms:created>
  <dcterms:modified xsi:type="dcterms:W3CDTF">2026-10-22T16:00:38.8920000Z</dcterms:modified>
</coreProperties>
</file>